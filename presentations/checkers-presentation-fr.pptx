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44" r:id="rId1"/>
  </p:sldMasterIdLst>
  <p:notesMasterIdLst>
    <p:notesMasterId r:id="rId12"/>
  </p:notesMasterIdLst>
  <p:handoutMasterIdLst>
    <p:handoutMasterId r:id="rId13"/>
  </p:handoutMasterIdLst>
  <p:sldIdLst>
    <p:sldId id="256" r:id="rId2"/>
    <p:sldId id="257" r:id="rId3"/>
    <p:sldId id="258" r:id="rId4"/>
    <p:sldId id="259" r:id="rId5"/>
    <p:sldId id="260" r:id="rId6"/>
    <p:sldId id="265" r:id="rId7"/>
    <p:sldId id="295" r:id="rId8"/>
    <p:sldId id="296" r:id="rId9"/>
    <p:sldId id="274" r:id="rId10"/>
    <p:sldId id="273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5E6FF"/>
    <a:srgbClr val="509DAE"/>
    <a:srgbClr val="172D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82" d="100"/>
          <a:sy n="82" d="100"/>
        </p:scale>
        <p:origin x="629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83DADDC9-8CF6-CCA2-6605-7B4705B00F5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81F642B9-C53F-2F5D-A4B1-E5938135B4E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E3F2EF-9554-4B6E-9C0A-0C2024BC3FA5}" type="datetimeFigureOut">
              <a:rPr lang="fr-FR" smtClean="0"/>
              <a:t>26/07/2025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AED0386-9826-C65D-92F0-DA63206D5A3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877B0DB-493B-6A6D-8D70-9ADD7E26DDA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4DEABA-102F-4DD5-A366-17D4234CC70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1152335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9606D9-0EBD-4314-98A4-831BE7508901}" type="datetimeFigureOut">
              <a:rPr lang="fr-FR" smtClean="0"/>
              <a:t>26/07/2025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8E457A-C722-47A9-A3F3-D9AF0A1BD9A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904002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8E457A-C722-47A9-A3F3-D9AF0A1BD9A8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493403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1FDBC3E0-4F6C-4B41-95CA-F43099313A3B}" type="datetime1">
              <a:rPr lang="fr-FR" smtClean="0"/>
              <a:t>26/07/2025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r>
              <a:rPr lang="fr-FR"/>
              <a:t>8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A3401A20-A1E0-4E43-B782-1D8AAEB2FCB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912930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D1314-9744-4B35-8C16-FD9590EDDDC4}" type="datetime1">
              <a:rPr lang="fr-FR" smtClean="0"/>
              <a:t>26/07/2025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8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01A20-A1E0-4E43-B782-1D8AAEB2FCB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20360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B5EF2-496D-4276-825D-9840E00F5FD4}" type="datetime1">
              <a:rPr lang="fr-FR" smtClean="0"/>
              <a:t>26/07/2025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8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01A20-A1E0-4E43-B782-1D8AAEB2FCB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055487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25246-1325-4949-AF01-91AFC1DDE190}" type="datetime1">
              <a:rPr lang="fr-FR" smtClean="0"/>
              <a:t>26/07/2025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8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01A20-A1E0-4E43-B782-1D8AAEB2FCB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467980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D102A-EC90-4AE2-A512-C40764E74D78}" type="datetime1">
              <a:rPr lang="fr-FR" smtClean="0"/>
              <a:t>26/07/2025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8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01A20-A1E0-4E43-B782-1D8AAEB2FCB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078001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59A1B-17A8-42D2-8468-EA9FC84D5653}" type="datetime1">
              <a:rPr lang="fr-FR" smtClean="0"/>
              <a:t>26/07/2025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8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01A20-A1E0-4E43-B782-1D8AAEB2FCB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967665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CE6E7-54D8-477B-953E-43A26DA98493}" type="datetime1">
              <a:rPr lang="fr-FR" smtClean="0"/>
              <a:t>26/07/2025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01A20-A1E0-4E43-B782-1D8AAEB2FCB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832797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E032B-B577-4D0B-BDB4-71F423ABE18D}" type="datetime1">
              <a:rPr lang="fr-FR" smtClean="0"/>
              <a:t>26/07/2025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8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01A20-A1E0-4E43-B782-1D8AAEB2FCB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18433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98483-DFDD-4B08-85E7-70017593ED08}" type="datetime1">
              <a:rPr lang="fr-FR" smtClean="0"/>
              <a:t>26/07/2025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8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01A20-A1E0-4E43-B782-1D8AAEB2FCB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014318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C6C77-AA16-4476-BA05-45DD38044BC3}" type="datetime1">
              <a:rPr lang="fr-FR" smtClean="0"/>
              <a:t>26/07/2025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8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01A20-A1E0-4E43-B782-1D8AAEB2FCB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602805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D792D-313A-459C-B365-6AB8F0015AFD}" type="datetime1">
              <a:rPr lang="fr-FR" smtClean="0"/>
              <a:t>26/07/2025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8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01A20-A1E0-4E43-B782-1D8AAEB2FCB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499929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DBA67-89BF-4952-99BB-6FF9F2262C65}" type="datetime1">
              <a:rPr lang="fr-FR" smtClean="0"/>
              <a:t>26/07/2025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8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01A20-A1E0-4E43-B782-1D8AAEB2FCB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665998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B1C12-E62B-4526-97BB-3735577E40BD}" type="datetime1">
              <a:rPr lang="fr-FR" smtClean="0"/>
              <a:t>26/07/2025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8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01A20-A1E0-4E43-B782-1D8AAEB2FCB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102883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F1F60-69B6-4DD3-A48D-28BB3317B699}" type="datetime1">
              <a:rPr lang="fr-FR" smtClean="0"/>
              <a:t>26/07/2025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8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01A20-A1E0-4E43-B782-1D8AAEB2FCB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735645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D8817-92D8-4C51-B25B-44938671C5A6}" type="datetime1">
              <a:rPr lang="fr-FR" smtClean="0"/>
              <a:t>26/07/2025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8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01A20-A1E0-4E43-B782-1D8AAEB2FCB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298773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729C3-03EE-424A-BF05-3E500076174C}" type="datetime1">
              <a:rPr lang="fr-FR" smtClean="0"/>
              <a:t>26/07/2025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8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01A20-A1E0-4E43-B782-1D8AAEB2FCB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9419410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82519-CDEB-4018-AA52-0AC867F69E1C}" type="datetime1">
              <a:rPr lang="fr-FR" smtClean="0"/>
              <a:t>26/07/2025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8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01A20-A1E0-4E43-B782-1D8AAEB2FCB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134346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96846E09-7239-4270-AC2E-81255EAC129B}" type="datetime1">
              <a:rPr lang="fr-FR" smtClean="0"/>
              <a:t>26/07/2025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r>
              <a:rPr lang="fr-FR"/>
              <a:t>8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A3401A20-A1E0-4E43-B782-1D8AAEB2FCB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4281837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  <p:sldLayoutId id="2147483757" r:id="rId13"/>
    <p:sldLayoutId id="2147483758" r:id="rId14"/>
    <p:sldLayoutId id="2147483759" r:id="rId15"/>
    <p:sldLayoutId id="2147483760" r:id="rId16"/>
    <p:sldLayoutId id="2147483761" r:id="rId17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91B82E7-C527-F062-4A6C-DF9A1EB13A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48883" y="2387586"/>
            <a:ext cx="9283958" cy="1500075"/>
          </a:xfrm>
          <a:solidFill>
            <a:schemeClr val="bg2"/>
          </a:solidFill>
          <a:ln>
            <a:noFill/>
          </a:ln>
          <a:effectLst>
            <a:glow rad="139700">
              <a:schemeClr val="accent3">
                <a:satMod val="175000"/>
                <a:alpha val="40000"/>
              </a:schemeClr>
            </a:glow>
            <a:outerShdw blurRad="76200" dist="12700" dir="8100000" sy="-23000" kx="800400" algn="br" rotWithShape="0">
              <a:prstClr val="black">
                <a:alpha val="20000"/>
              </a:prstClr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>
            <a:normAutofit/>
          </a:bodyPr>
          <a:lstStyle/>
          <a:p>
            <a:pPr algn="ctr"/>
            <a:r>
              <a:rPr lang="fr-FR" sz="4000" b="1" dirty="0">
                <a:latin typeface="+mn-lt"/>
              </a:rPr>
              <a:t>Jeu de dames simplifié avec règles logiques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29B60EEB-04E7-D109-0DF6-DBB747AD27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39233" y="3900626"/>
            <a:ext cx="6513534" cy="448081"/>
          </a:xfrm>
        </p:spPr>
        <p:txBody>
          <a:bodyPr/>
          <a:lstStyle/>
          <a:p>
            <a:pPr algn="ctr"/>
            <a:r>
              <a:rPr lang="fr-FR" dirty="0"/>
              <a:t>réalisé par El </a:t>
            </a:r>
            <a:r>
              <a:rPr lang="fr-FR" dirty="0" err="1"/>
              <a:t>Akkaoui</a:t>
            </a:r>
            <a:r>
              <a:rPr lang="fr-FR" dirty="0"/>
              <a:t> Adam &amp; ZAIDOUH MOHAMMED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B1EA8A-0B8C-04DE-E027-72F45E77EC9E}"/>
              </a:ext>
            </a:extLst>
          </p:cNvPr>
          <p:cNvSpPr/>
          <p:nvPr/>
        </p:nvSpPr>
        <p:spPr>
          <a:xfrm>
            <a:off x="7620821" y="5582762"/>
            <a:ext cx="371007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b="1" dirty="0">
                <a:solidFill>
                  <a:schemeClr val="accent2"/>
                </a:solidFill>
              </a:rPr>
              <a:t>Présenté le : </a:t>
            </a:r>
            <a:r>
              <a:rPr lang="fr-FR" dirty="0">
                <a:solidFill>
                  <a:schemeClr val="accent1">
                    <a:lumMod val="75000"/>
                  </a:schemeClr>
                </a:solidFill>
              </a:rPr>
              <a:t>	</a:t>
            </a:r>
            <a:r>
              <a:rPr lang="fr-FR" b="1" dirty="0"/>
              <a:t>26/07/2025</a:t>
            </a:r>
            <a:endParaRPr lang="en-US" b="1" dirty="0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F40EFCA7-F949-DF4F-66D8-C2404AC7E69C}"/>
              </a:ext>
            </a:extLst>
          </p:cNvPr>
          <p:cNvSpPr txBox="1">
            <a:spLocks/>
          </p:cNvSpPr>
          <p:nvPr/>
        </p:nvSpPr>
        <p:spPr>
          <a:xfrm>
            <a:off x="0" y="4809754"/>
            <a:ext cx="6513534" cy="18889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fr-FR" sz="1800" dirty="0">
                <a:solidFill>
                  <a:schemeClr val="accent1">
                    <a:lumMod val="75000"/>
                  </a:schemeClr>
                </a:solidFill>
              </a:rPr>
              <a:t>		</a:t>
            </a:r>
            <a:r>
              <a:rPr lang="fr-FR" sz="1800" b="1" dirty="0">
                <a:solidFill>
                  <a:schemeClr val="accent2"/>
                </a:solidFill>
              </a:rPr>
              <a:t>Module : </a:t>
            </a:r>
            <a:r>
              <a:rPr lang="fr-FR" sz="1800" b="1" dirty="0">
                <a:ea typeface="Open Sans Light" panose="020B0306030504020204" pitchFamily="34" charset="0"/>
                <a:cs typeface="Open Sans Light" panose="020B0306030504020204" pitchFamily="34" charset="0"/>
              </a:rPr>
              <a:t>Systèmes experts et logiques</a:t>
            </a:r>
            <a:endParaRPr lang="fr-FR" sz="1800" b="1" dirty="0">
              <a:solidFill>
                <a:schemeClr val="accent2"/>
              </a:solidFill>
            </a:endParaRPr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5B028938-D734-4527-522E-1CCC2B3E0752}"/>
              </a:ext>
            </a:extLst>
          </p:cNvPr>
          <p:cNvSpPr txBox="1"/>
          <p:nvPr/>
        </p:nvSpPr>
        <p:spPr>
          <a:xfrm>
            <a:off x="2766029" y="179463"/>
            <a:ext cx="6906126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dirty="0">
                <a:ea typeface="Open Sans Light" panose="020B0306030504020204" pitchFamily="34" charset="0"/>
                <a:cs typeface="Open Sans Light" panose="020B0306030504020204" pitchFamily="34" charset="0"/>
              </a:rPr>
              <a:t>UNIVERSITE IBN  TOFAIL</a:t>
            </a:r>
          </a:p>
          <a:p>
            <a:pPr algn="ctr"/>
            <a:r>
              <a:rPr lang="fr-FR" sz="1600" dirty="0">
                <a:ea typeface="Open Sans Light" panose="020B0306030504020204" pitchFamily="34" charset="0"/>
                <a:cs typeface="Open Sans Light" panose="020B0306030504020204" pitchFamily="34" charset="0"/>
              </a:rPr>
              <a:t>FACULTE DES SCIENCES</a:t>
            </a:r>
          </a:p>
          <a:p>
            <a:pPr algn="ctr"/>
            <a:r>
              <a:rPr lang="fr-FR" dirty="0"/>
              <a:t>Département d’Informatique</a:t>
            </a:r>
            <a:endParaRPr lang="fr-FR" sz="2000" dirty="0"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algn="ctr"/>
            <a:r>
              <a:rPr lang="fr-FR" sz="2400" b="1" dirty="0">
                <a:ea typeface="Open Sans Light" panose="020B0306030504020204" pitchFamily="34" charset="0"/>
                <a:cs typeface="Open Sans Light" panose="020B0306030504020204" pitchFamily="34" charset="0"/>
              </a:rPr>
              <a:t>Filière Ingénierie des Systèmes Intelligents (ISI)</a:t>
            </a:r>
          </a:p>
          <a:p>
            <a:pPr algn="ctr"/>
            <a:r>
              <a:rPr lang="fr-FR" sz="2000" b="1" dirty="0">
                <a:ea typeface="Open Sans Light" panose="020B0306030504020204" pitchFamily="34" charset="0"/>
                <a:cs typeface="Open Sans Light" panose="020B0306030504020204" pitchFamily="34" charset="0"/>
              </a:rPr>
              <a:t>Mini-Projet</a:t>
            </a:r>
            <a:endParaRPr lang="fr-FR" sz="2000" dirty="0"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algn="ctr"/>
            <a:r>
              <a:rPr lang="fr-FR" sz="2000" dirty="0">
                <a:ea typeface="Open Sans Light" panose="020B0306030504020204" pitchFamily="34" charset="0"/>
                <a:cs typeface="Open Sans Light" panose="020B0306030504020204" pitchFamily="34" charset="0"/>
              </a:rPr>
              <a:t>intitulé</a:t>
            </a:r>
            <a:endParaRPr lang="en-US" dirty="0"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79CB1A6F-544A-5A55-B117-19AE393C2E32}"/>
              </a:ext>
            </a:extLst>
          </p:cNvPr>
          <p:cNvSpPr txBox="1"/>
          <p:nvPr/>
        </p:nvSpPr>
        <p:spPr>
          <a:xfrm>
            <a:off x="9672155" y="6481101"/>
            <a:ext cx="2432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Semestre 2 : 2024/2025</a:t>
            </a:r>
            <a:endParaRPr lang="en-US" dirty="0"/>
          </a:p>
        </p:txBody>
      </p:sp>
      <p:pic>
        <p:nvPicPr>
          <p:cNvPr id="1026" name="Picture 2" descr="Université Ibn Tofaïl | Kenitra">
            <a:extLst>
              <a:ext uri="{FF2B5EF4-FFF2-40B4-BE49-F238E27FC236}">
                <a16:creationId xmlns:a16="http://schemas.microsoft.com/office/drawing/2014/main" id="{3CE3394D-A119-A8A3-4C23-012629378C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131" y="138730"/>
            <a:ext cx="1785821" cy="1723427"/>
          </a:xfrm>
          <a:prstGeom prst="roundRect">
            <a:avLst>
              <a:gd name="adj" fmla="val 23265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وزارة التربية الوطنية والتعليم الأولي والرياضة (المغرب) - ويكيبيديا">
            <a:extLst>
              <a:ext uri="{FF2B5EF4-FFF2-40B4-BE49-F238E27FC236}">
                <a16:creationId xmlns:a16="http://schemas.microsoft.com/office/drawing/2014/main" id="{F6DF54B6-6DB4-57C8-698F-105D570282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30048" y="138730"/>
            <a:ext cx="1785821" cy="1723427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422118034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TextBox 19">
            <a:extLst>
              <a:ext uri="{FF2B5EF4-FFF2-40B4-BE49-F238E27FC236}">
                <a16:creationId xmlns:a16="http://schemas.microsoft.com/office/drawing/2014/main" id="{02182153-3792-7697-C528-4F1680D234CB}"/>
              </a:ext>
            </a:extLst>
          </p:cNvPr>
          <p:cNvSpPr txBox="1"/>
          <p:nvPr/>
        </p:nvSpPr>
        <p:spPr>
          <a:xfrm>
            <a:off x="5310589" y="108372"/>
            <a:ext cx="2893939" cy="9233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5400" dirty="0">
                <a:cs typeface="Arial" pitchFamily="34" charset="0"/>
              </a:rPr>
              <a:t>Plan</a:t>
            </a:r>
            <a:endParaRPr lang="ko-KR" altLang="en-US" sz="5400" dirty="0">
              <a:cs typeface="Arial" pitchFamily="34" charset="0"/>
            </a:endParaRPr>
          </a:p>
        </p:txBody>
      </p:sp>
      <p:grpSp>
        <p:nvGrpSpPr>
          <p:cNvPr id="91" name="Group 28">
            <a:extLst>
              <a:ext uri="{FF2B5EF4-FFF2-40B4-BE49-F238E27FC236}">
                <a16:creationId xmlns:a16="http://schemas.microsoft.com/office/drawing/2014/main" id="{605405ED-ABC7-BD52-237E-6C0ABFF11049}"/>
              </a:ext>
            </a:extLst>
          </p:cNvPr>
          <p:cNvGrpSpPr/>
          <p:nvPr/>
        </p:nvGrpSpPr>
        <p:grpSpPr>
          <a:xfrm>
            <a:off x="805722" y="1766093"/>
            <a:ext cx="4574057" cy="1067019"/>
            <a:chOff x="7691620" y="783218"/>
            <a:chExt cx="4136075" cy="1067019"/>
          </a:xfrm>
        </p:grpSpPr>
        <p:sp>
          <p:nvSpPr>
            <p:cNvPr id="92" name="TextBox 5">
              <a:extLst>
                <a:ext uri="{FF2B5EF4-FFF2-40B4-BE49-F238E27FC236}">
                  <a16:creationId xmlns:a16="http://schemas.microsoft.com/office/drawing/2014/main" id="{98D4D10D-8435-BF63-061F-7FF652569BB2}"/>
                </a:ext>
              </a:extLst>
            </p:cNvPr>
            <p:cNvSpPr txBox="1"/>
            <p:nvPr/>
          </p:nvSpPr>
          <p:spPr>
            <a:xfrm>
              <a:off x="7709198" y="1573238"/>
              <a:ext cx="373386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altLang="ko-KR" sz="1200" dirty="0">
                  <a:cs typeface="Arial" pitchFamily="34" charset="0"/>
                </a:rPr>
                <a:t>Présentation générale de l’objectif et le contexte du projet.</a:t>
              </a:r>
            </a:p>
          </p:txBody>
        </p:sp>
        <p:sp>
          <p:nvSpPr>
            <p:cNvPr id="93" name="TextBox 7">
              <a:extLst>
                <a:ext uri="{FF2B5EF4-FFF2-40B4-BE49-F238E27FC236}">
                  <a16:creationId xmlns:a16="http://schemas.microsoft.com/office/drawing/2014/main" id="{7288A9FF-C395-3356-C366-A6D53FE7CFB5}"/>
                </a:ext>
              </a:extLst>
            </p:cNvPr>
            <p:cNvSpPr txBox="1"/>
            <p:nvPr/>
          </p:nvSpPr>
          <p:spPr>
            <a:xfrm>
              <a:off x="7691620" y="1085014"/>
              <a:ext cx="3751443" cy="400110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en-US" altLang="ko-KR" sz="2000" b="1" dirty="0">
                  <a:solidFill>
                    <a:schemeClr val="accent2"/>
                  </a:solidFill>
                  <a:cs typeface="Arial" pitchFamily="34" charset="0"/>
                </a:rPr>
                <a:t>Introduction</a:t>
              </a:r>
            </a:p>
          </p:txBody>
        </p:sp>
        <p:sp>
          <p:nvSpPr>
            <p:cNvPr id="94" name="TextBox 8">
              <a:extLst>
                <a:ext uri="{FF2B5EF4-FFF2-40B4-BE49-F238E27FC236}">
                  <a16:creationId xmlns:a16="http://schemas.microsoft.com/office/drawing/2014/main" id="{37385169-E155-59EE-5271-E6E6BA43B55C}"/>
                </a:ext>
              </a:extLst>
            </p:cNvPr>
            <p:cNvSpPr txBox="1"/>
            <p:nvPr/>
          </p:nvSpPr>
          <p:spPr>
            <a:xfrm>
              <a:off x="10566725" y="783218"/>
              <a:ext cx="1260970" cy="1015663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ctr"/>
              <a:r>
                <a:rPr lang="en-US" altLang="ko-KR" sz="6000" b="1" dirty="0">
                  <a:solidFill>
                    <a:schemeClr val="accent2">
                      <a:alpha val="20000"/>
                    </a:schemeClr>
                  </a:solidFill>
                  <a:cs typeface="Arial" pitchFamily="34" charset="0"/>
                </a:rPr>
                <a:t>01</a:t>
              </a:r>
              <a:endParaRPr lang="ko-KR" altLang="en-US" sz="6000" b="1" dirty="0">
                <a:solidFill>
                  <a:schemeClr val="accent2">
                    <a:alpha val="20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95" name="Group 26">
            <a:extLst>
              <a:ext uri="{FF2B5EF4-FFF2-40B4-BE49-F238E27FC236}">
                <a16:creationId xmlns:a16="http://schemas.microsoft.com/office/drawing/2014/main" id="{03E92E86-1299-434D-7FA3-CAAEE40E96EA}"/>
              </a:ext>
            </a:extLst>
          </p:cNvPr>
          <p:cNvGrpSpPr/>
          <p:nvPr/>
        </p:nvGrpSpPr>
        <p:grpSpPr>
          <a:xfrm>
            <a:off x="805722" y="3569507"/>
            <a:ext cx="4583121" cy="1240384"/>
            <a:chOff x="7691620" y="2011683"/>
            <a:chExt cx="4091089" cy="1240384"/>
          </a:xfrm>
        </p:grpSpPr>
        <p:sp>
          <p:nvSpPr>
            <p:cNvPr id="96" name="TextBox 10">
              <a:extLst>
                <a:ext uri="{FF2B5EF4-FFF2-40B4-BE49-F238E27FC236}">
                  <a16:creationId xmlns:a16="http://schemas.microsoft.com/office/drawing/2014/main" id="{A0535B21-C076-2E67-DF8A-74D089BD17AF}"/>
                </a:ext>
              </a:extLst>
            </p:cNvPr>
            <p:cNvSpPr txBox="1"/>
            <p:nvPr/>
          </p:nvSpPr>
          <p:spPr>
            <a:xfrm>
              <a:off x="7709198" y="2790402"/>
              <a:ext cx="373386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altLang="ko-KR" sz="1200" dirty="0">
                  <a:cs typeface="Arial" pitchFamily="34" charset="0"/>
                </a:rPr>
                <a:t>Présentation de la structure du jeu : plateau, moteur de jeu, IA et interface utilisateur.</a:t>
              </a:r>
              <a:endParaRPr lang="en-US" altLang="ko-KR" sz="1200" dirty="0">
                <a:cs typeface="Arial" pitchFamily="34" charset="0"/>
              </a:endParaRPr>
            </a:p>
          </p:txBody>
        </p:sp>
        <p:sp>
          <p:nvSpPr>
            <p:cNvPr id="97" name="TextBox 12">
              <a:extLst>
                <a:ext uri="{FF2B5EF4-FFF2-40B4-BE49-F238E27FC236}">
                  <a16:creationId xmlns:a16="http://schemas.microsoft.com/office/drawing/2014/main" id="{3D105E4C-5F12-4544-C3A2-D505B020D8BA}"/>
                </a:ext>
              </a:extLst>
            </p:cNvPr>
            <p:cNvSpPr txBox="1"/>
            <p:nvPr/>
          </p:nvSpPr>
          <p:spPr>
            <a:xfrm>
              <a:off x="7691620" y="2302178"/>
              <a:ext cx="3751443" cy="400110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en-US" altLang="ko-KR" sz="2000" b="1" dirty="0">
                  <a:solidFill>
                    <a:schemeClr val="accent2"/>
                  </a:solidFill>
                  <a:cs typeface="Arial" pitchFamily="34" charset="0"/>
                </a:rPr>
                <a:t>Architecture du </a:t>
              </a:r>
              <a:r>
                <a:rPr lang="en-US" altLang="ko-KR" sz="2000" b="1" dirty="0" err="1">
                  <a:solidFill>
                    <a:schemeClr val="accent2"/>
                  </a:solidFill>
                  <a:cs typeface="Arial" pitchFamily="34" charset="0"/>
                </a:rPr>
                <a:t>systéme</a:t>
              </a:r>
              <a:endParaRPr lang="en-US" altLang="ko-KR" sz="2000" b="1" dirty="0">
                <a:solidFill>
                  <a:schemeClr val="accent2"/>
                </a:solidFill>
                <a:cs typeface="Arial" pitchFamily="34" charset="0"/>
              </a:endParaRPr>
            </a:p>
          </p:txBody>
        </p:sp>
        <p:sp>
          <p:nvSpPr>
            <p:cNvPr id="98" name="TextBox 13">
              <a:extLst>
                <a:ext uri="{FF2B5EF4-FFF2-40B4-BE49-F238E27FC236}">
                  <a16:creationId xmlns:a16="http://schemas.microsoft.com/office/drawing/2014/main" id="{7533AE38-1CC2-6561-22B9-A50B39244B43}"/>
                </a:ext>
              </a:extLst>
            </p:cNvPr>
            <p:cNvSpPr txBox="1"/>
            <p:nvPr/>
          </p:nvSpPr>
          <p:spPr>
            <a:xfrm>
              <a:off x="10521739" y="2011683"/>
              <a:ext cx="1260970" cy="1015663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ctr"/>
              <a:r>
                <a:rPr lang="en-US" altLang="ko-KR" sz="6000" b="1" dirty="0">
                  <a:solidFill>
                    <a:schemeClr val="accent2">
                      <a:alpha val="20000"/>
                    </a:schemeClr>
                  </a:solidFill>
                  <a:cs typeface="Arial" pitchFamily="34" charset="0"/>
                </a:rPr>
                <a:t>02</a:t>
              </a:r>
              <a:endParaRPr lang="ko-KR" altLang="en-US" sz="6000" b="1" dirty="0">
                <a:solidFill>
                  <a:schemeClr val="accent2">
                    <a:alpha val="20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104" name="Group 30">
            <a:extLst>
              <a:ext uri="{FF2B5EF4-FFF2-40B4-BE49-F238E27FC236}">
                <a16:creationId xmlns:a16="http://schemas.microsoft.com/office/drawing/2014/main" id="{CF787328-E078-1CBD-C6FF-FE24F3CB7BBB}"/>
              </a:ext>
            </a:extLst>
          </p:cNvPr>
          <p:cNvGrpSpPr/>
          <p:nvPr/>
        </p:nvGrpSpPr>
        <p:grpSpPr>
          <a:xfrm>
            <a:off x="6698430" y="3569507"/>
            <a:ext cx="4542085" cy="1240384"/>
            <a:chOff x="7691620" y="4446010"/>
            <a:chExt cx="4091089" cy="1240384"/>
          </a:xfrm>
        </p:grpSpPr>
        <p:grpSp>
          <p:nvGrpSpPr>
            <p:cNvPr id="105" name="Group 3">
              <a:extLst>
                <a:ext uri="{FF2B5EF4-FFF2-40B4-BE49-F238E27FC236}">
                  <a16:creationId xmlns:a16="http://schemas.microsoft.com/office/drawing/2014/main" id="{18483DA4-47F9-A805-B9CC-BEC44985FE2F}"/>
                </a:ext>
              </a:extLst>
            </p:cNvPr>
            <p:cNvGrpSpPr/>
            <p:nvPr/>
          </p:nvGrpSpPr>
          <p:grpSpPr>
            <a:xfrm>
              <a:off x="7691620" y="4736505"/>
              <a:ext cx="3751443" cy="949889"/>
              <a:chOff x="7691620" y="4736505"/>
              <a:chExt cx="3751443" cy="949889"/>
            </a:xfrm>
          </p:grpSpPr>
          <p:sp>
            <p:nvSpPr>
              <p:cNvPr id="107" name="TextBox 21">
                <a:extLst>
                  <a:ext uri="{FF2B5EF4-FFF2-40B4-BE49-F238E27FC236}">
                    <a16:creationId xmlns:a16="http://schemas.microsoft.com/office/drawing/2014/main" id="{62AA8F16-8200-CD94-A677-AE1491CAAA49}"/>
                  </a:ext>
                </a:extLst>
              </p:cNvPr>
              <p:cNvSpPr txBox="1"/>
              <p:nvPr/>
            </p:nvSpPr>
            <p:spPr>
              <a:xfrm>
                <a:off x="7709198" y="5224729"/>
                <a:ext cx="373386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altLang="ko-KR" sz="1200" dirty="0">
                    <a:cs typeface="Arial" pitchFamily="34" charset="0"/>
                  </a:rPr>
                  <a:t>Résumé des résultats obtenus, des limites et des perspectives futures du projet.</a:t>
                </a:r>
              </a:p>
            </p:txBody>
          </p:sp>
          <p:sp>
            <p:nvSpPr>
              <p:cNvPr id="108" name="TextBox 23">
                <a:extLst>
                  <a:ext uri="{FF2B5EF4-FFF2-40B4-BE49-F238E27FC236}">
                    <a16:creationId xmlns:a16="http://schemas.microsoft.com/office/drawing/2014/main" id="{9FFEF552-BBBC-2518-9966-86258C90E35F}"/>
                  </a:ext>
                </a:extLst>
              </p:cNvPr>
              <p:cNvSpPr txBox="1"/>
              <p:nvPr/>
            </p:nvSpPr>
            <p:spPr>
              <a:xfrm>
                <a:off x="7691620" y="4736505"/>
                <a:ext cx="3751443" cy="400110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r>
                  <a:rPr lang="en-US" altLang="ko-KR" sz="2000" b="1" dirty="0">
                    <a:solidFill>
                      <a:schemeClr val="accent2"/>
                    </a:solidFill>
                    <a:cs typeface="Arial" pitchFamily="34" charset="0"/>
                  </a:rPr>
                  <a:t>Conclusion</a:t>
                </a:r>
              </a:p>
            </p:txBody>
          </p:sp>
        </p:grpSp>
        <p:sp>
          <p:nvSpPr>
            <p:cNvPr id="106" name="TextBox 24">
              <a:extLst>
                <a:ext uri="{FF2B5EF4-FFF2-40B4-BE49-F238E27FC236}">
                  <a16:creationId xmlns:a16="http://schemas.microsoft.com/office/drawing/2014/main" id="{C3CF75CE-50E9-6F56-1B55-38C1B7D696CD}"/>
                </a:ext>
              </a:extLst>
            </p:cNvPr>
            <p:cNvSpPr txBox="1"/>
            <p:nvPr/>
          </p:nvSpPr>
          <p:spPr>
            <a:xfrm>
              <a:off x="10521739" y="4446010"/>
              <a:ext cx="1260970" cy="1015663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ctr"/>
              <a:r>
                <a:rPr lang="en-US" altLang="ko-KR" sz="6000" b="1" dirty="0">
                  <a:solidFill>
                    <a:schemeClr val="accent2">
                      <a:alpha val="20000"/>
                    </a:schemeClr>
                  </a:solidFill>
                  <a:cs typeface="Arial" pitchFamily="34" charset="0"/>
                </a:rPr>
                <a:t>04</a:t>
              </a:r>
              <a:endParaRPr lang="ko-KR" altLang="en-US" sz="6000" b="1" dirty="0">
                <a:solidFill>
                  <a:schemeClr val="accent2">
                    <a:alpha val="20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A6F11AE-024E-2464-7632-8E60F5505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480175"/>
            <a:ext cx="245643" cy="377825"/>
          </a:xfrm>
        </p:spPr>
        <p:txBody>
          <a:bodyPr/>
          <a:lstStyle/>
          <a:p>
            <a:fld id="{A3401A20-A1E0-4E43-B782-1D8AAEB2FCB1}" type="slidenum">
              <a:rPr lang="fr-FR" smtClean="0"/>
              <a:t>2</a:t>
            </a:fld>
            <a:endParaRPr lang="fr-FR" dirty="0"/>
          </a:p>
        </p:txBody>
      </p:sp>
      <p:grpSp>
        <p:nvGrpSpPr>
          <p:cNvPr id="2" name="Group 29">
            <a:extLst>
              <a:ext uri="{FF2B5EF4-FFF2-40B4-BE49-F238E27FC236}">
                <a16:creationId xmlns:a16="http://schemas.microsoft.com/office/drawing/2014/main" id="{2BE82E41-9D28-BF9A-82CB-84841FB27A69}"/>
              </a:ext>
            </a:extLst>
          </p:cNvPr>
          <p:cNvGrpSpPr/>
          <p:nvPr/>
        </p:nvGrpSpPr>
        <p:grpSpPr>
          <a:xfrm>
            <a:off x="6677086" y="1726038"/>
            <a:ext cx="4563429" cy="1240384"/>
            <a:chOff x="7691620" y="3228847"/>
            <a:chExt cx="4091089" cy="1240384"/>
          </a:xfrm>
        </p:grpSpPr>
        <p:grpSp>
          <p:nvGrpSpPr>
            <p:cNvPr id="3" name="Group 25">
              <a:extLst>
                <a:ext uri="{FF2B5EF4-FFF2-40B4-BE49-F238E27FC236}">
                  <a16:creationId xmlns:a16="http://schemas.microsoft.com/office/drawing/2014/main" id="{F3E43CAC-DA88-79FC-F21F-A4AAED2F7D26}"/>
                </a:ext>
              </a:extLst>
            </p:cNvPr>
            <p:cNvGrpSpPr/>
            <p:nvPr/>
          </p:nvGrpSpPr>
          <p:grpSpPr>
            <a:xfrm>
              <a:off x="7691620" y="3519342"/>
              <a:ext cx="3751443" cy="949889"/>
              <a:chOff x="7691620" y="3519342"/>
              <a:chExt cx="3751443" cy="949889"/>
            </a:xfrm>
          </p:grpSpPr>
          <p:sp>
            <p:nvSpPr>
              <p:cNvPr id="5" name="TextBox 15">
                <a:extLst>
                  <a:ext uri="{FF2B5EF4-FFF2-40B4-BE49-F238E27FC236}">
                    <a16:creationId xmlns:a16="http://schemas.microsoft.com/office/drawing/2014/main" id="{E813F3E3-0621-83C4-B6AD-F7261A51724F}"/>
                  </a:ext>
                </a:extLst>
              </p:cNvPr>
              <p:cNvSpPr txBox="1"/>
              <p:nvPr/>
            </p:nvSpPr>
            <p:spPr>
              <a:xfrm>
                <a:off x="7709198" y="4007566"/>
                <a:ext cx="373386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altLang="ko-KR" sz="1200" dirty="0">
                    <a:cs typeface="Arial" pitchFamily="34" charset="0"/>
                  </a:rPr>
                  <a:t>Description du processus de développement, avec une démonstration en direct du code et du jeu en action.</a:t>
                </a:r>
              </a:p>
            </p:txBody>
          </p:sp>
          <p:sp>
            <p:nvSpPr>
              <p:cNvPr id="7" name="TextBox 17">
                <a:extLst>
                  <a:ext uri="{FF2B5EF4-FFF2-40B4-BE49-F238E27FC236}">
                    <a16:creationId xmlns:a16="http://schemas.microsoft.com/office/drawing/2014/main" id="{2127D04D-58B0-DA67-017C-29C9E9E1B7B0}"/>
                  </a:ext>
                </a:extLst>
              </p:cNvPr>
              <p:cNvSpPr txBox="1"/>
              <p:nvPr/>
            </p:nvSpPr>
            <p:spPr>
              <a:xfrm>
                <a:off x="7691620" y="3519342"/>
                <a:ext cx="3751443" cy="400110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r>
                  <a:rPr lang="en-US" altLang="ko-KR" sz="2000" b="1" dirty="0" err="1">
                    <a:solidFill>
                      <a:schemeClr val="accent2"/>
                    </a:solidFill>
                    <a:cs typeface="Arial" pitchFamily="34" charset="0"/>
                  </a:rPr>
                  <a:t>Developpement</a:t>
                </a:r>
                <a:endParaRPr lang="en-US" altLang="ko-KR" sz="2000" b="1" dirty="0">
                  <a:solidFill>
                    <a:schemeClr val="accent2"/>
                  </a:solidFill>
                  <a:cs typeface="Arial" pitchFamily="34" charset="0"/>
                </a:endParaRPr>
              </a:p>
            </p:txBody>
          </p:sp>
        </p:grpSp>
        <p:sp>
          <p:nvSpPr>
            <p:cNvPr id="4" name="TextBox 18">
              <a:extLst>
                <a:ext uri="{FF2B5EF4-FFF2-40B4-BE49-F238E27FC236}">
                  <a16:creationId xmlns:a16="http://schemas.microsoft.com/office/drawing/2014/main" id="{20D9ABDC-E0BF-64D4-5EE1-EDF82329F36D}"/>
                </a:ext>
              </a:extLst>
            </p:cNvPr>
            <p:cNvSpPr txBox="1"/>
            <p:nvPr/>
          </p:nvSpPr>
          <p:spPr>
            <a:xfrm>
              <a:off x="10521739" y="3228847"/>
              <a:ext cx="1260970" cy="1015663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ctr"/>
              <a:r>
                <a:rPr lang="en-US" altLang="ko-KR" sz="6000" b="1" dirty="0">
                  <a:solidFill>
                    <a:schemeClr val="accent2">
                      <a:alpha val="20000"/>
                    </a:schemeClr>
                  </a:solidFill>
                  <a:cs typeface="Arial" pitchFamily="34" charset="0"/>
                </a:rPr>
                <a:t>03</a:t>
              </a:r>
              <a:endParaRPr lang="ko-KR" altLang="en-US" sz="6000" b="1" dirty="0">
                <a:solidFill>
                  <a:schemeClr val="accent2">
                    <a:alpha val="20000"/>
                  </a:schemeClr>
                </a:solidFill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19375368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ZoneTexte 87">
            <a:extLst>
              <a:ext uri="{FF2B5EF4-FFF2-40B4-BE49-F238E27FC236}">
                <a16:creationId xmlns:a16="http://schemas.microsoft.com/office/drawing/2014/main" id="{9DBC806D-DFEC-DE02-C8C8-5CD3A5EC03F1}"/>
              </a:ext>
            </a:extLst>
          </p:cNvPr>
          <p:cNvSpPr txBox="1"/>
          <p:nvPr/>
        </p:nvSpPr>
        <p:spPr>
          <a:xfrm>
            <a:off x="3163033" y="302253"/>
            <a:ext cx="609460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3200" b="1" dirty="0"/>
              <a:t>Introduction</a:t>
            </a:r>
          </a:p>
        </p:txBody>
      </p:sp>
      <p:sp>
        <p:nvSpPr>
          <p:cNvPr id="90" name="Rectangle : coins arrondis 89">
            <a:extLst>
              <a:ext uri="{FF2B5EF4-FFF2-40B4-BE49-F238E27FC236}">
                <a16:creationId xmlns:a16="http://schemas.microsoft.com/office/drawing/2014/main" id="{5157F7DD-7141-9D0D-A346-4C82B11E6952}"/>
              </a:ext>
            </a:extLst>
          </p:cNvPr>
          <p:cNvSpPr/>
          <p:nvPr/>
        </p:nvSpPr>
        <p:spPr>
          <a:xfrm>
            <a:off x="8127826" y="2042597"/>
            <a:ext cx="2773563" cy="1101147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b="1" dirty="0">
                <a:solidFill>
                  <a:schemeClr val="tx1"/>
                </a:solidFill>
              </a:rPr>
              <a:t>Contexte et motivation :</a:t>
            </a:r>
            <a:endParaRPr lang="fr-FR" sz="1200" dirty="0">
              <a:solidFill>
                <a:schemeClr val="tx1"/>
              </a:solidFill>
            </a:endParaRPr>
          </a:p>
        </p:txBody>
      </p:sp>
      <p:sp>
        <p:nvSpPr>
          <p:cNvPr id="91" name="Rectangle : coins arrondis 90">
            <a:extLst>
              <a:ext uri="{FF2B5EF4-FFF2-40B4-BE49-F238E27FC236}">
                <a16:creationId xmlns:a16="http://schemas.microsoft.com/office/drawing/2014/main" id="{9456DD80-7659-35F7-4068-FA372864455A}"/>
              </a:ext>
            </a:extLst>
          </p:cNvPr>
          <p:cNvSpPr/>
          <p:nvPr/>
        </p:nvSpPr>
        <p:spPr>
          <a:xfrm>
            <a:off x="2119932" y="2111434"/>
            <a:ext cx="2467823" cy="1101144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b="1" dirty="0">
                <a:solidFill>
                  <a:schemeClr val="tx1"/>
                </a:solidFill>
              </a:rPr>
              <a:t>Objectif du projet :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79AB3AF-2E09-F63C-82BF-E88448A65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29620" y="6477680"/>
            <a:ext cx="275583" cy="377825"/>
          </a:xfrm>
        </p:spPr>
        <p:txBody>
          <a:bodyPr/>
          <a:lstStyle/>
          <a:p>
            <a:fld id="{A3401A20-A1E0-4E43-B782-1D8AAEB2FCB1}" type="slidenum">
              <a:rPr lang="fr-FR" smtClean="0"/>
              <a:t>3</a:t>
            </a:fld>
            <a:endParaRPr lang="fr-FR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81E41B05-4C81-3635-CB44-672DC9411FA7}"/>
              </a:ext>
            </a:extLst>
          </p:cNvPr>
          <p:cNvSpPr txBox="1"/>
          <p:nvPr/>
        </p:nvSpPr>
        <p:spPr>
          <a:xfrm>
            <a:off x="245963" y="4458041"/>
            <a:ext cx="621576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 dirty="0">
                <a:solidFill>
                  <a:schemeClr val="tx1"/>
                </a:solidFill>
              </a:rPr>
              <a:t>Concevoir un jeu de dames simplifié en respectant les règles classiques du jeu.</a:t>
            </a:r>
          </a:p>
          <a:p>
            <a:r>
              <a:rPr lang="fr-FR" sz="1400" b="1" dirty="0"/>
              <a:t>Intégrer une intelligence artificielle (IA) capable de jouer contre un joueur humain.</a:t>
            </a:r>
          </a:p>
          <a:p>
            <a:r>
              <a:rPr lang="fr-FR" sz="1400" b="1" dirty="0"/>
              <a:t>Utiliser l'algorithme </a:t>
            </a:r>
            <a:r>
              <a:rPr lang="fr-FR" sz="1400" b="1" dirty="0" err="1"/>
              <a:t>MiniMax</a:t>
            </a:r>
            <a:r>
              <a:rPr lang="fr-FR" sz="1400" b="1" dirty="0"/>
              <a:t> pour la prise de décision de l'IA.</a:t>
            </a:r>
          </a:p>
        </p:txBody>
      </p:sp>
      <p:cxnSp>
        <p:nvCxnSpPr>
          <p:cNvPr id="10" name="Connecteur : en angle 9">
            <a:extLst>
              <a:ext uri="{FF2B5EF4-FFF2-40B4-BE49-F238E27FC236}">
                <a16:creationId xmlns:a16="http://schemas.microsoft.com/office/drawing/2014/main" id="{E7C86D7D-0F74-DD19-5E0E-077581009AF7}"/>
              </a:ext>
            </a:extLst>
          </p:cNvPr>
          <p:cNvCxnSpPr>
            <a:cxnSpLocks/>
            <a:stCxn id="90" idx="2"/>
            <a:endCxn id="47" idx="0"/>
          </p:cNvCxnSpPr>
          <p:nvPr/>
        </p:nvCxnSpPr>
        <p:spPr>
          <a:xfrm rot="16200000" flipH="1">
            <a:off x="8911320" y="3747031"/>
            <a:ext cx="1206576" cy="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Connecteur : en angle 15">
            <a:extLst>
              <a:ext uri="{FF2B5EF4-FFF2-40B4-BE49-F238E27FC236}">
                <a16:creationId xmlns:a16="http://schemas.microsoft.com/office/drawing/2014/main" id="{97BEE8D8-601F-21E0-B475-712582DF5FDC}"/>
              </a:ext>
            </a:extLst>
          </p:cNvPr>
          <p:cNvCxnSpPr>
            <a:cxnSpLocks/>
            <a:stCxn id="91" idx="2"/>
            <a:endCxn id="5" idx="0"/>
          </p:cNvCxnSpPr>
          <p:nvPr/>
        </p:nvCxnSpPr>
        <p:spPr>
          <a:xfrm rot="16200000" flipH="1">
            <a:off x="2731113" y="3835308"/>
            <a:ext cx="1245463" cy="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2" name="Connecteur : en angle 21">
            <a:extLst>
              <a:ext uri="{FF2B5EF4-FFF2-40B4-BE49-F238E27FC236}">
                <a16:creationId xmlns:a16="http://schemas.microsoft.com/office/drawing/2014/main" id="{5638B5E6-F22E-8678-9377-6AB731617374}"/>
              </a:ext>
            </a:extLst>
          </p:cNvPr>
          <p:cNvCxnSpPr>
            <a:cxnSpLocks/>
          </p:cNvCxnSpPr>
          <p:nvPr/>
        </p:nvCxnSpPr>
        <p:spPr>
          <a:xfrm rot="16200000" flipH="1">
            <a:off x="7284686" y="-159426"/>
            <a:ext cx="1155569" cy="330427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" name="Connecteur : en angle 23">
            <a:extLst>
              <a:ext uri="{FF2B5EF4-FFF2-40B4-BE49-F238E27FC236}">
                <a16:creationId xmlns:a16="http://schemas.microsoft.com/office/drawing/2014/main" id="{26257518-E8A8-DF24-724F-C0842AF248BB}"/>
              </a:ext>
            </a:extLst>
          </p:cNvPr>
          <p:cNvCxnSpPr>
            <a:cxnSpLocks/>
            <a:stCxn id="88" idx="2"/>
            <a:endCxn id="91" idx="0"/>
          </p:cNvCxnSpPr>
          <p:nvPr/>
        </p:nvCxnSpPr>
        <p:spPr>
          <a:xfrm rot="5400000">
            <a:off x="4169886" y="70986"/>
            <a:ext cx="1224406" cy="285649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7" name="ZoneTexte 46">
            <a:extLst>
              <a:ext uri="{FF2B5EF4-FFF2-40B4-BE49-F238E27FC236}">
                <a16:creationId xmlns:a16="http://schemas.microsoft.com/office/drawing/2014/main" id="{F3E19E13-CE1F-78DF-64F7-0073F0B49612}"/>
              </a:ext>
            </a:extLst>
          </p:cNvPr>
          <p:cNvSpPr txBox="1"/>
          <p:nvPr/>
        </p:nvSpPr>
        <p:spPr>
          <a:xfrm>
            <a:off x="6680719" y="4350320"/>
            <a:ext cx="5667779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b="1" dirty="0"/>
              <a:t>Le jeu de dames est un jeu populaire nécessitant une réflexion stratégique, ce qui permet d'explorer l'IA dans le domaine des jeux à information parfaite.</a:t>
            </a:r>
          </a:p>
          <a:p>
            <a:r>
              <a:rPr lang="fr-FR" sz="1400" b="1" dirty="0"/>
              <a:t>Ce projet vise à renforcer les compétences en programmation logique et en intelligence artificielle.</a:t>
            </a:r>
          </a:p>
        </p:txBody>
      </p:sp>
    </p:spTree>
    <p:extLst>
      <p:ext uri="{BB962C8B-B14F-4D97-AF65-F5344CB8AC3E}">
        <p14:creationId xmlns:p14="http://schemas.microsoft.com/office/powerpoint/2010/main" val="859467046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DF6C17E8-CFB6-F7DB-0A89-26636D898EA7}"/>
              </a:ext>
            </a:extLst>
          </p:cNvPr>
          <p:cNvSpPr/>
          <p:nvPr/>
        </p:nvSpPr>
        <p:spPr>
          <a:xfrm>
            <a:off x="1793650" y="2871132"/>
            <a:ext cx="8321879" cy="1115736"/>
          </a:xfrm>
          <a:prstGeom prst="roundRect">
            <a:avLst>
              <a:gd name="adj" fmla="val 41101"/>
            </a:avLst>
          </a:prstGeom>
          <a:solidFill>
            <a:srgbClr val="0070C0"/>
          </a:solidFill>
          <a:effectLst>
            <a:outerShdw blurRad="57150" dist="19050" dir="5400000" algn="ctr" rotWithShape="0">
              <a:srgbClr val="000000">
                <a:alpha val="63000"/>
              </a:srgbClr>
            </a:outerShdw>
            <a:softEdge rad="63500"/>
          </a:effectLst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b="1" dirty="0"/>
              <a:t>Architecture du système</a:t>
            </a:r>
          </a:p>
        </p:txBody>
      </p:sp>
      <p:pic>
        <p:nvPicPr>
          <p:cNvPr id="5" name="Graphique 4" descr="Hiérarchie">
            <a:extLst>
              <a:ext uri="{FF2B5EF4-FFF2-40B4-BE49-F238E27FC236}">
                <a16:creationId xmlns:a16="http://schemas.microsoft.com/office/drawing/2014/main" id="{1FF8B310-6298-1414-8EAC-DB79965A13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94439" y="297180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7049337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9">
            <a:extLst>
              <a:ext uri="{FF2B5EF4-FFF2-40B4-BE49-F238E27FC236}">
                <a16:creationId xmlns:a16="http://schemas.microsoft.com/office/drawing/2014/main" id="{5A34ED42-5BAD-F4A3-06E2-F7BACBFBDD55}"/>
              </a:ext>
            </a:extLst>
          </p:cNvPr>
          <p:cNvGrpSpPr/>
          <p:nvPr/>
        </p:nvGrpSpPr>
        <p:grpSpPr>
          <a:xfrm>
            <a:off x="924870" y="2515896"/>
            <a:ext cx="1980877" cy="1597314"/>
            <a:chOff x="1114004" y="1108655"/>
            <a:chExt cx="2154279" cy="1636493"/>
          </a:xfrm>
        </p:grpSpPr>
        <p:sp>
          <p:nvSpPr>
            <p:cNvPr id="15" name="TextBox 1">
              <a:extLst>
                <a:ext uri="{FF2B5EF4-FFF2-40B4-BE49-F238E27FC236}">
                  <a16:creationId xmlns:a16="http://schemas.microsoft.com/office/drawing/2014/main" id="{151F0356-6DEF-F141-32CD-5FBA83392BA5}"/>
                </a:ext>
              </a:extLst>
            </p:cNvPr>
            <p:cNvSpPr txBox="1"/>
            <p:nvPr/>
          </p:nvSpPr>
          <p:spPr>
            <a:xfrm>
              <a:off x="1114004" y="1108655"/>
              <a:ext cx="200902" cy="7252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ko-KR" altLang="en-US" sz="4000" b="1" dirty="0">
                <a:cs typeface="Arial" pitchFamily="34" charset="0"/>
              </a:endParaRPr>
            </a:p>
          </p:txBody>
        </p:sp>
        <p:sp>
          <p:nvSpPr>
            <p:cNvPr id="16" name="TextBox 12">
              <a:extLst>
                <a:ext uri="{FF2B5EF4-FFF2-40B4-BE49-F238E27FC236}">
                  <a16:creationId xmlns:a16="http://schemas.microsoft.com/office/drawing/2014/main" id="{3B20D7CD-65B3-9592-D67D-DC5FFCBFBD8F}"/>
                </a:ext>
              </a:extLst>
            </p:cNvPr>
            <p:cNvSpPr txBox="1"/>
            <p:nvPr/>
          </p:nvSpPr>
          <p:spPr>
            <a:xfrm>
              <a:off x="1149236" y="1704573"/>
              <a:ext cx="2119047" cy="10405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altLang="ko-KR" sz="1200" dirty="0">
                  <a:cs typeface="Arial" pitchFamily="34" charset="0"/>
                </a:rPr>
                <a:t>Le plateau est représenté par une matrice où chaque case contient un objet représentant une pièce (Pion, Dame, vide).</a:t>
              </a:r>
              <a:endParaRPr lang="en-US" altLang="ko-KR" sz="1200" dirty="0">
                <a:cs typeface="Arial" pitchFamily="34" charset="0"/>
              </a:endParaRPr>
            </a:p>
          </p:txBody>
        </p:sp>
        <p:sp>
          <p:nvSpPr>
            <p:cNvPr id="17" name="TextBox 14">
              <a:extLst>
                <a:ext uri="{FF2B5EF4-FFF2-40B4-BE49-F238E27FC236}">
                  <a16:creationId xmlns:a16="http://schemas.microsoft.com/office/drawing/2014/main" id="{C474D67F-FB8F-E912-C41E-926B5086CAF4}"/>
                </a:ext>
              </a:extLst>
            </p:cNvPr>
            <p:cNvSpPr txBox="1"/>
            <p:nvPr/>
          </p:nvSpPr>
          <p:spPr>
            <a:xfrm>
              <a:off x="1149235" y="1138607"/>
              <a:ext cx="2119047" cy="315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altLang="ko-KR" sz="1400" b="1" dirty="0">
                  <a:cs typeface="Arial" pitchFamily="34" charset="0"/>
                </a:rPr>
                <a:t>Plateau de jeu :</a:t>
              </a:r>
              <a:endParaRPr lang="ko-KR" altLang="en-US" sz="1400" b="1" dirty="0">
                <a:cs typeface="Arial" pitchFamily="34" charset="0"/>
              </a:endParaRPr>
            </a:p>
          </p:txBody>
        </p:sp>
      </p:grpSp>
      <p:sp>
        <p:nvSpPr>
          <p:cNvPr id="18" name="TextBox 7">
            <a:extLst>
              <a:ext uri="{FF2B5EF4-FFF2-40B4-BE49-F238E27FC236}">
                <a16:creationId xmlns:a16="http://schemas.microsoft.com/office/drawing/2014/main" id="{043CA354-7E1D-57F6-FCE4-1AC6DEB7483B}"/>
              </a:ext>
            </a:extLst>
          </p:cNvPr>
          <p:cNvSpPr txBox="1"/>
          <p:nvPr/>
        </p:nvSpPr>
        <p:spPr>
          <a:xfrm>
            <a:off x="1035400" y="234598"/>
            <a:ext cx="10133901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fr-FR" altLang="ko-KR" sz="2800" b="1" dirty="0">
                <a:cs typeface="Arial" pitchFamily="34" charset="0"/>
              </a:rPr>
              <a:t>Architecture du système</a:t>
            </a:r>
          </a:p>
        </p:txBody>
      </p:sp>
      <p:sp>
        <p:nvSpPr>
          <p:cNvPr id="20" name="Rectangle: Rounded Corners 15">
            <a:extLst>
              <a:ext uri="{FF2B5EF4-FFF2-40B4-BE49-F238E27FC236}">
                <a16:creationId xmlns:a16="http://schemas.microsoft.com/office/drawing/2014/main" id="{797186C0-FD77-4B1F-4C13-32F355D374DB}"/>
              </a:ext>
            </a:extLst>
          </p:cNvPr>
          <p:cNvSpPr/>
          <p:nvPr/>
        </p:nvSpPr>
        <p:spPr>
          <a:xfrm>
            <a:off x="807621" y="2346609"/>
            <a:ext cx="2221326" cy="2560123"/>
          </a:xfrm>
          <a:prstGeom prst="roundRect">
            <a:avLst>
              <a:gd name="adj" fmla="val 3805"/>
            </a:avLst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1" name="Rectangle: Rounded Corners 15">
            <a:extLst>
              <a:ext uri="{FF2B5EF4-FFF2-40B4-BE49-F238E27FC236}">
                <a16:creationId xmlns:a16="http://schemas.microsoft.com/office/drawing/2014/main" id="{DD5DF304-4296-5CC6-DF59-DD6A8A5F0154}"/>
              </a:ext>
            </a:extLst>
          </p:cNvPr>
          <p:cNvSpPr/>
          <p:nvPr/>
        </p:nvSpPr>
        <p:spPr>
          <a:xfrm>
            <a:off x="3626711" y="2346609"/>
            <a:ext cx="2221326" cy="2560123"/>
          </a:xfrm>
          <a:prstGeom prst="roundRect">
            <a:avLst>
              <a:gd name="adj" fmla="val 3805"/>
            </a:avLst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19">
            <a:extLst>
              <a:ext uri="{FF2B5EF4-FFF2-40B4-BE49-F238E27FC236}">
                <a16:creationId xmlns:a16="http://schemas.microsoft.com/office/drawing/2014/main" id="{4AE2BB5B-FA08-99DE-2064-0B2B5CF5A99B}"/>
              </a:ext>
            </a:extLst>
          </p:cNvPr>
          <p:cNvGrpSpPr/>
          <p:nvPr/>
        </p:nvGrpSpPr>
        <p:grpSpPr>
          <a:xfrm>
            <a:off x="3670769" y="2515896"/>
            <a:ext cx="2040846" cy="1419903"/>
            <a:chOff x="1114004" y="1108655"/>
            <a:chExt cx="2219499" cy="1656008"/>
          </a:xfrm>
        </p:grpSpPr>
        <p:sp>
          <p:nvSpPr>
            <p:cNvPr id="23" name="TextBox 1">
              <a:extLst>
                <a:ext uri="{FF2B5EF4-FFF2-40B4-BE49-F238E27FC236}">
                  <a16:creationId xmlns:a16="http://schemas.microsoft.com/office/drawing/2014/main" id="{8727E566-8F91-3014-A745-D433AF8F8C40}"/>
                </a:ext>
              </a:extLst>
            </p:cNvPr>
            <p:cNvSpPr txBox="1"/>
            <p:nvPr/>
          </p:nvSpPr>
          <p:spPr>
            <a:xfrm>
              <a:off x="1114004" y="1108655"/>
              <a:ext cx="200902" cy="7252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ko-KR" altLang="en-US" sz="4000" b="1" dirty="0">
                <a:cs typeface="Arial" pitchFamily="34" charset="0"/>
              </a:endParaRPr>
            </a:p>
          </p:txBody>
        </p:sp>
        <p:sp>
          <p:nvSpPr>
            <p:cNvPr id="24" name="TextBox 12">
              <a:extLst>
                <a:ext uri="{FF2B5EF4-FFF2-40B4-BE49-F238E27FC236}">
                  <a16:creationId xmlns:a16="http://schemas.microsoft.com/office/drawing/2014/main" id="{463D73B6-C2B8-20C6-4B2D-8AC9620E3219}"/>
                </a:ext>
              </a:extLst>
            </p:cNvPr>
            <p:cNvSpPr txBox="1"/>
            <p:nvPr/>
          </p:nvSpPr>
          <p:spPr>
            <a:xfrm>
              <a:off x="1214455" y="1795486"/>
              <a:ext cx="2119047" cy="9691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altLang="ko-KR" sz="1200" dirty="0">
                  <a:cs typeface="Arial" pitchFamily="34" charset="0"/>
                </a:rPr>
                <a:t>Il gère la logique des mouvements, captures, promotions et exécute les coups des joueurs.</a:t>
              </a:r>
              <a:endParaRPr lang="en-US" altLang="ko-KR" sz="1200" dirty="0">
                <a:cs typeface="Arial" pitchFamily="34" charset="0"/>
              </a:endParaRPr>
            </a:p>
          </p:txBody>
        </p:sp>
        <p:sp>
          <p:nvSpPr>
            <p:cNvPr id="25" name="TextBox 14">
              <a:extLst>
                <a:ext uri="{FF2B5EF4-FFF2-40B4-BE49-F238E27FC236}">
                  <a16:creationId xmlns:a16="http://schemas.microsoft.com/office/drawing/2014/main" id="{2DE8E555-9DBB-1C47-D78F-3338DCA6A81E}"/>
                </a:ext>
              </a:extLst>
            </p:cNvPr>
            <p:cNvSpPr txBox="1"/>
            <p:nvPr/>
          </p:nvSpPr>
          <p:spPr>
            <a:xfrm>
              <a:off x="1214456" y="1164583"/>
              <a:ext cx="2119047" cy="3589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400" b="1" dirty="0"/>
                <a:t>Moteur de jeu :</a:t>
              </a:r>
              <a:endParaRPr lang="ko-KR" altLang="en-US" sz="1400" b="1" dirty="0">
                <a:cs typeface="Arial" pitchFamily="34" charset="0"/>
              </a:endParaRPr>
            </a:p>
          </p:txBody>
        </p:sp>
      </p:grpSp>
      <p:sp>
        <p:nvSpPr>
          <p:cNvPr id="30" name="Rectangle: Rounded Corners 15">
            <a:extLst>
              <a:ext uri="{FF2B5EF4-FFF2-40B4-BE49-F238E27FC236}">
                <a16:creationId xmlns:a16="http://schemas.microsoft.com/office/drawing/2014/main" id="{FD51F931-6F0E-9358-2B7A-4395567591BC}"/>
              </a:ext>
            </a:extLst>
          </p:cNvPr>
          <p:cNvSpPr/>
          <p:nvPr/>
        </p:nvSpPr>
        <p:spPr>
          <a:xfrm>
            <a:off x="6527820" y="2346609"/>
            <a:ext cx="2221326" cy="2560123"/>
          </a:xfrm>
          <a:prstGeom prst="roundRect">
            <a:avLst>
              <a:gd name="adj" fmla="val 3805"/>
            </a:avLst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1" name="Group 19">
            <a:extLst>
              <a:ext uri="{FF2B5EF4-FFF2-40B4-BE49-F238E27FC236}">
                <a16:creationId xmlns:a16="http://schemas.microsoft.com/office/drawing/2014/main" id="{F9C10CF4-223C-7D51-1B30-A4A05541EF9D}"/>
              </a:ext>
            </a:extLst>
          </p:cNvPr>
          <p:cNvGrpSpPr/>
          <p:nvPr/>
        </p:nvGrpSpPr>
        <p:grpSpPr>
          <a:xfrm>
            <a:off x="6664243" y="2299998"/>
            <a:ext cx="1948480" cy="1484116"/>
            <a:chOff x="1114004" y="1108655"/>
            <a:chExt cx="2119047" cy="1520519"/>
          </a:xfrm>
        </p:grpSpPr>
        <p:sp>
          <p:nvSpPr>
            <p:cNvPr id="32" name="TextBox 1">
              <a:extLst>
                <a:ext uri="{FF2B5EF4-FFF2-40B4-BE49-F238E27FC236}">
                  <a16:creationId xmlns:a16="http://schemas.microsoft.com/office/drawing/2014/main" id="{645D95AE-EE8E-104F-3DA4-D165DBFA81A6}"/>
                </a:ext>
              </a:extLst>
            </p:cNvPr>
            <p:cNvSpPr txBox="1"/>
            <p:nvPr/>
          </p:nvSpPr>
          <p:spPr>
            <a:xfrm>
              <a:off x="1114004" y="1108655"/>
              <a:ext cx="200902" cy="7252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ko-KR" altLang="en-US" sz="4000" b="1" dirty="0">
                <a:cs typeface="Arial" pitchFamily="34" charset="0"/>
              </a:endParaRPr>
            </a:p>
          </p:txBody>
        </p:sp>
        <p:sp>
          <p:nvSpPr>
            <p:cNvPr id="33" name="TextBox 12">
              <a:extLst>
                <a:ext uri="{FF2B5EF4-FFF2-40B4-BE49-F238E27FC236}">
                  <a16:creationId xmlns:a16="http://schemas.microsoft.com/office/drawing/2014/main" id="{0A8C2D9E-77DD-7163-9D8D-41698FCC7A3F}"/>
                </a:ext>
              </a:extLst>
            </p:cNvPr>
            <p:cNvSpPr txBox="1"/>
            <p:nvPr/>
          </p:nvSpPr>
          <p:spPr>
            <a:xfrm>
              <a:off x="1114004" y="1966989"/>
              <a:ext cx="2119047" cy="662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altLang="ko-KR" sz="1200" dirty="0">
                  <a:cs typeface="Arial" pitchFamily="34" charset="0"/>
                </a:rPr>
                <a:t>L'IA utilise l'algorithme </a:t>
              </a:r>
              <a:r>
                <a:rPr lang="fr-FR" altLang="ko-KR" sz="1200" dirty="0" err="1">
                  <a:cs typeface="Arial" pitchFamily="34" charset="0"/>
                </a:rPr>
                <a:t>MiniMax</a:t>
              </a:r>
              <a:r>
                <a:rPr lang="fr-FR" altLang="ko-KR" sz="1200" dirty="0">
                  <a:cs typeface="Arial" pitchFamily="34" charset="0"/>
                </a:rPr>
                <a:t> pour déterminer les meilleurs coups pour l'IA.</a:t>
              </a:r>
              <a:endParaRPr lang="en-US" altLang="ko-KR" sz="1200" dirty="0">
                <a:cs typeface="Arial" pitchFamily="34" charset="0"/>
              </a:endParaRPr>
            </a:p>
          </p:txBody>
        </p:sp>
        <p:sp>
          <p:nvSpPr>
            <p:cNvPr id="34" name="TextBox 14">
              <a:extLst>
                <a:ext uri="{FF2B5EF4-FFF2-40B4-BE49-F238E27FC236}">
                  <a16:creationId xmlns:a16="http://schemas.microsoft.com/office/drawing/2014/main" id="{A801C83D-C3CC-9F89-5802-22AC5CC75096}"/>
                </a:ext>
              </a:extLst>
            </p:cNvPr>
            <p:cNvSpPr txBox="1"/>
            <p:nvPr/>
          </p:nvSpPr>
          <p:spPr>
            <a:xfrm>
              <a:off x="1114004" y="1359801"/>
              <a:ext cx="2119047" cy="315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400" b="1" dirty="0"/>
                <a:t>IA (</a:t>
              </a:r>
              <a:r>
                <a:rPr lang="fr-FR" sz="1400" b="1" dirty="0" err="1"/>
                <a:t>MiniMax</a:t>
              </a:r>
              <a:r>
                <a:rPr lang="fr-FR" sz="1400" b="1" dirty="0"/>
                <a:t>) :</a:t>
              </a:r>
              <a:endParaRPr lang="ko-KR" altLang="en-US" sz="1400" b="1" dirty="0">
                <a:cs typeface="Arial" pitchFamily="34" charset="0"/>
              </a:endParaRPr>
            </a:p>
          </p:txBody>
        </p:sp>
      </p:grp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2330E45-1F1F-F6C2-9BDA-262E873F7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561" y="6470606"/>
            <a:ext cx="199606" cy="377825"/>
          </a:xfrm>
        </p:spPr>
        <p:txBody>
          <a:bodyPr/>
          <a:lstStyle/>
          <a:p>
            <a:fld id="{A3401A20-A1E0-4E43-B782-1D8AAEB2FCB1}" type="slidenum">
              <a:rPr lang="fr-FR" smtClean="0"/>
              <a:t>5</a:t>
            </a:fld>
            <a:endParaRPr lang="fr-FR" dirty="0"/>
          </a:p>
        </p:txBody>
      </p:sp>
      <p:cxnSp>
        <p:nvCxnSpPr>
          <p:cNvPr id="3" name="Connecteur : en angle 2">
            <a:extLst>
              <a:ext uri="{FF2B5EF4-FFF2-40B4-BE49-F238E27FC236}">
                <a16:creationId xmlns:a16="http://schemas.microsoft.com/office/drawing/2014/main" id="{AF63C733-F4A9-28AA-FA48-25E422CE88A0}"/>
              </a:ext>
            </a:extLst>
          </p:cNvPr>
          <p:cNvCxnSpPr>
            <a:cxnSpLocks/>
            <a:stCxn id="18" idx="2"/>
            <a:endCxn id="20" idx="0"/>
          </p:cNvCxnSpPr>
          <p:nvPr/>
        </p:nvCxnSpPr>
        <p:spPr>
          <a:xfrm rot="5400000">
            <a:off x="3215923" y="-539820"/>
            <a:ext cx="1588791" cy="418406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" name="Connecteur : en angle 4">
            <a:extLst>
              <a:ext uri="{FF2B5EF4-FFF2-40B4-BE49-F238E27FC236}">
                <a16:creationId xmlns:a16="http://schemas.microsoft.com/office/drawing/2014/main" id="{57D55E81-D226-76AC-5B37-7BBACF50BF80}"/>
              </a:ext>
            </a:extLst>
          </p:cNvPr>
          <p:cNvCxnSpPr>
            <a:cxnSpLocks/>
            <a:stCxn id="18" idx="2"/>
            <a:endCxn id="21" idx="0"/>
          </p:cNvCxnSpPr>
          <p:nvPr/>
        </p:nvCxnSpPr>
        <p:spPr>
          <a:xfrm rot="5400000">
            <a:off x="4625468" y="869725"/>
            <a:ext cx="1588791" cy="136497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" name="Connecteur : en angle 7">
            <a:extLst>
              <a:ext uri="{FF2B5EF4-FFF2-40B4-BE49-F238E27FC236}">
                <a16:creationId xmlns:a16="http://schemas.microsoft.com/office/drawing/2014/main" id="{BDC825AF-8567-C815-DAA3-56D2F6B7F452}"/>
              </a:ext>
            </a:extLst>
          </p:cNvPr>
          <p:cNvCxnSpPr>
            <a:cxnSpLocks/>
            <a:stCxn id="18" idx="2"/>
            <a:endCxn id="30" idx="0"/>
          </p:cNvCxnSpPr>
          <p:nvPr/>
        </p:nvCxnSpPr>
        <p:spPr>
          <a:xfrm rot="16200000" flipH="1">
            <a:off x="6076022" y="784147"/>
            <a:ext cx="1588791" cy="1536132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Rectangle: Rounded Corners 15">
            <a:extLst>
              <a:ext uri="{FF2B5EF4-FFF2-40B4-BE49-F238E27FC236}">
                <a16:creationId xmlns:a16="http://schemas.microsoft.com/office/drawing/2014/main" id="{8B8A62FD-06D1-457B-A4E4-BE5FCB61E47C}"/>
              </a:ext>
            </a:extLst>
          </p:cNvPr>
          <p:cNvSpPr/>
          <p:nvPr/>
        </p:nvSpPr>
        <p:spPr>
          <a:xfrm>
            <a:off x="9346910" y="2346609"/>
            <a:ext cx="2221326" cy="2560123"/>
          </a:xfrm>
          <a:prstGeom prst="roundRect">
            <a:avLst>
              <a:gd name="adj" fmla="val 3805"/>
            </a:avLst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19">
            <a:extLst>
              <a:ext uri="{FF2B5EF4-FFF2-40B4-BE49-F238E27FC236}">
                <a16:creationId xmlns:a16="http://schemas.microsoft.com/office/drawing/2014/main" id="{0B9F7ABC-9A1C-BAAC-E05A-B48560842EF5}"/>
              </a:ext>
            </a:extLst>
          </p:cNvPr>
          <p:cNvGrpSpPr/>
          <p:nvPr/>
        </p:nvGrpSpPr>
        <p:grpSpPr>
          <a:xfrm>
            <a:off x="9390968" y="2522246"/>
            <a:ext cx="2040846" cy="1419903"/>
            <a:chOff x="1114004" y="1108655"/>
            <a:chExt cx="2219499" cy="1656008"/>
          </a:xfrm>
        </p:grpSpPr>
        <p:sp>
          <p:nvSpPr>
            <p:cNvPr id="7" name="TextBox 1">
              <a:extLst>
                <a:ext uri="{FF2B5EF4-FFF2-40B4-BE49-F238E27FC236}">
                  <a16:creationId xmlns:a16="http://schemas.microsoft.com/office/drawing/2014/main" id="{6011CB07-584A-B2EE-6CE6-528D675E6588}"/>
                </a:ext>
              </a:extLst>
            </p:cNvPr>
            <p:cNvSpPr txBox="1"/>
            <p:nvPr/>
          </p:nvSpPr>
          <p:spPr>
            <a:xfrm>
              <a:off x="1114004" y="1108655"/>
              <a:ext cx="200902" cy="7252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ko-KR" altLang="en-US" sz="4000" b="1" dirty="0">
                <a:cs typeface="Arial" pitchFamily="34" charset="0"/>
              </a:endParaRPr>
            </a:p>
          </p:txBody>
        </p:sp>
        <p:sp>
          <p:nvSpPr>
            <p:cNvPr id="9" name="TextBox 12">
              <a:extLst>
                <a:ext uri="{FF2B5EF4-FFF2-40B4-BE49-F238E27FC236}">
                  <a16:creationId xmlns:a16="http://schemas.microsoft.com/office/drawing/2014/main" id="{5D70DCED-C8D1-4765-32FB-696A0065B09C}"/>
                </a:ext>
              </a:extLst>
            </p:cNvPr>
            <p:cNvSpPr txBox="1"/>
            <p:nvPr/>
          </p:nvSpPr>
          <p:spPr>
            <a:xfrm>
              <a:off x="1214455" y="1795486"/>
              <a:ext cx="2119047" cy="9691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altLang="ko-KR" sz="1200" dirty="0">
                  <a:cs typeface="Arial" pitchFamily="34" charset="0"/>
                </a:rPr>
                <a:t>Interface textuelle pour afficher le plateau et permettre l'interaction avec l'utilisateur.</a:t>
              </a:r>
              <a:endParaRPr lang="en-US" altLang="ko-KR" sz="1200" dirty="0">
                <a:cs typeface="Arial" pitchFamily="34" charset="0"/>
              </a:endParaRPr>
            </a:p>
          </p:txBody>
        </p:sp>
        <p:sp>
          <p:nvSpPr>
            <p:cNvPr id="11" name="TextBox 14">
              <a:extLst>
                <a:ext uri="{FF2B5EF4-FFF2-40B4-BE49-F238E27FC236}">
                  <a16:creationId xmlns:a16="http://schemas.microsoft.com/office/drawing/2014/main" id="{E44E1AA9-BA58-D3E4-18ED-0976E053B3A2}"/>
                </a:ext>
              </a:extLst>
            </p:cNvPr>
            <p:cNvSpPr txBox="1"/>
            <p:nvPr/>
          </p:nvSpPr>
          <p:spPr>
            <a:xfrm>
              <a:off x="1214456" y="1164583"/>
              <a:ext cx="2119047" cy="3589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400" b="1" dirty="0"/>
                <a:t>Interface utilisateur :</a:t>
              </a:r>
              <a:endParaRPr lang="ko-KR" altLang="en-US" sz="1400" b="1" dirty="0">
                <a:cs typeface="Arial" pitchFamily="34" charset="0"/>
              </a:endParaRPr>
            </a:p>
          </p:txBody>
        </p:sp>
      </p:grpSp>
      <p:cxnSp>
        <p:nvCxnSpPr>
          <p:cNvPr id="28" name="Connecteur : en angle 27">
            <a:extLst>
              <a:ext uri="{FF2B5EF4-FFF2-40B4-BE49-F238E27FC236}">
                <a16:creationId xmlns:a16="http://schemas.microsoft.com/office/drawing/2014/main" id="{39F4A248-97F5-2A53-1C3A-5330C0C40153}"/>
              </a:ext>
            </a:extLst>
          </p:cNvPr>
          <p:cNvCxnSpPr>
            <a:cxnSpLocks/>
            <a:stCxn id="18" idx="2"/>
            <a:endCxn id="2" idx="0"/>
          </p:cNvCxnSpPr>
          <p:nvPr/>
        </p:nvCxnSpPr>
        <p:spPr>
          <a:xfrm rot="16200000" flipH="1">
            <a:off x="7485567" y="-625398"/>
            <a:ext cx="1588791" cy="4355222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4723836"/>
      </p:ext>
    </p:extLst>
  </p:cSld>
  <p:clrMapOvr>
    <a:masterClrMapping/>
  </p:clrMapOvr>
  <p:transition spd="slow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DF6C17E8-CFB6-F7DB-0A89-26636D898EA7}"/>
              </a:ext>
            </a:extLst>
          </p:cNvPr>
          <p:cNvSpPr/>
          <p:nvPr/>
        </p:nvSpPr>
        <p:spPr>
          <a:xfrm>
            <a:off x="1793650" y="2871132"/>
            <a:ext cx="8321879" cy="1115736"/>
          </a:xfrm>
          <a:prstGeom prst="roundRect">
            <a:avLst>
              <a:gd name="adj" fmla="val 41101"/>
            </a:avLst>
          </a:prstGeom>
          <a:solidFill>
            <a:srgbClr val="0070C0"/>
          </a:solidFill>
          <a:effectLst>
            <a:outerShdw blurRad="57150" dist="19050" dir="5400000" algn="ctr" rotWithShape="0">
              <a:srgbClr val="000000">
                <a:alpha val="63000"/>
              </a:srgbClr>
            </a:outerShdw>
            <a:softEdge rad="63500"/>
          </a:effectLst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b="1" dirty="0">
                <a:solidFill>
                  <a:schemeClr val="tx1"/>
                </a:solidFill>
                <a:cs typeface="Arial" pitchFamily="34" charset="0"/>
              </a:rPr>
              <a:t>Développement</a:t>
            </a:r>
          </a:p>
        </p:txBody>
      </p:sp>
      <p:pic>
        <p:nvPicPr>
          <p:cNvPr id="2" name="Graphique 1" descr="Conception Web">
            <a:extLst>
              <a:ext uri="{FF2B5EF4-FFF2-40B4-BE49-F238E27FC236}">
                <a16:creationId xmlns:a16="http://schemas.microsoft.com/office/drawing/2014/main" id="{BAD02096-E9DA-81C4-1FDC-BC99F43B32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2394439" y="297180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2453967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2B02AB-986C-7568-2C3F-EF7E4C928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9">
            <a:extLst>
              <a:ext uri="{FF2B5EF4-FFF2-40B4-BE49-F238E27FC236}">
                <a16:creationId xmlns:a16="http://schemas.microsoft.com/office/drawing/2014/main" id="{3DF7C88F-CC61-53C7-A233-81EB2C28DAD7}"/>
              </a:ext>
            </a:extLst>
          </p:cNvPr>
          <p:cNvGrpSpPr/>
          <p:nvPr/>
        </p:nvGrpSpPr>
        <p:grpSpPr>
          <a:xfrm>
            <a:off x="1092799" y="2929972"/>
            <a:ext cx="1958067" cy="1472470"/>
            <a:chOff x="1114004" y="1108655"/>
            <a:chExt cx="2129473" cy="1508586"/>
          </a:xfrm>
        </p:grpSpPr>
        <p:sp>
          <p:nvSpPr>
            <p:cNvPr id="15" name="TextBox 1">
              <a:extLst>
                <a:ext uri="{FF2B5EF4-FFF2-40B4-BE49-F238E27FC236}">
                  <a16:creationId xmlns:a16="http://schemas.microsoft.com/office/drawing/2014/main" id="{818B26DF-6C09-3393-73A4-340936140068}"/>
                </a:ext>
              </a:extLst>
            </p:cNvPr>
            <p:cNvSpPr txBox="1"/>
            <p:nvPr/>
          </p:nvSpPr>
          <p:spPr>
            <a:xfrm>
              <a:off x="1114004" y="1108655"/>
              <a:ext cx="200902" cy="7252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ko-KR" altLang="en-US" sz="4000" b="1" dirty="0">
                <a:cs typeface="Arial" pitchFamily="34" charset="0"/>
              </a:endParaRPr>
            </a:p>
          </p:txBody>
        </p:sp>
        <p:sp>
          <p:nvSpPr>
            <p:cNvPr id="16" name="TextBox 12">
              <a:extLst>
                <a:ext uri="{FF2B5EF4-FFF2-40B4-BE49-F238E27FC236}">
                  <a16:creationId xmlns:a16="http://schemas.microsoft.com/office/drawing/2014/main" id="{75341497-8436-F1E4-1135-F02C19D8C67D}"/>
                </a:ext>
              </a:extLst>
            </p:cNvPr>
            <p:cNvSpPr txBox="1"/>
            <p:nvPr/>
          </p:nvSpPr>
          <p:spPr>
            <a:xfrm>
              <a:off x="1114004" y="1955057"/>
              <a:ext cx="2119047" cy="6621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altLang="ko-KR" sz="1200" dirty="0">
                  <a:cs typeface="Arial" pitchFamily="34" charset="0"/>
                </a:rPr>
                <a:t>Représentation du plateau sous forme de matrice, initialisation des pièces.</a:t>
              </a:r>
              <a:endParaRPr lang="en-US" altLang="ko-KR" sz="1200" dirty="0">
                <a:cs typeface="Arial" pitchFamily="34" charset="0"/>
              </a:endParaRPr>
            </a:p>
          </p:txBody>
        </p:sp>
        <p:sp>
          <p:nvSpPr>
            <p:cNvPr id="17" name="TextBox 14">
              <a:extLst>
                <a:ext uri="{FF2B5EF4-FFF2-40B4-BE49-F238E27FC236}">
                  <a16:creationId xmlns:a16="http://schemas.microsoft.com/office/drawing/2014/main" id="{B62DFAC9-ACCB-2A1B-49A0-00B734C8E496}"/>
                </a:ext>
              </a:extLst>
            </p:cNvPr>
            <p:cNvSpPr txBox="1"/>
            <p:nvPr/>
          </p:nvSpPr>
          <p:spPr>
            <a:xfrm>
              <a:off x="1124430" y="1298686"/>
              <a:ext cx="2119047" cy="5045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altLang="ko-KR" sz="1300" b="1" dirty="0">
                  <a:cs typeface="Arial" pitchFamily="34" charset="0"/>
                </a:rPr>
                <a:t>Phase 1 : Modélisation du plateau et des pièces</a:t>
              </a:r>
              <a:endParaRPr lang="ko-KR" altLang="en-US" sz="1300" b="1" dirty="0">
                <a:cs typeface="Arial" pitchFamily="34" charset="0"/>
              </a:endParaRPr>
            </a:p>
          </p:txBody>
        </p:sp>
      </p:grpSp>
      <p:sp>
        <p:nvSpPr>
          <p:cNvPr id="18" name="TextBox 7">
            <a:extLst>
              <a:ext uri="{FF2B5EF4-FFF2-40B4-BE49-F238E27FC236}">
                <a16:creationId xmlns:a16="http://schemas.microsoft.com/office/drawing/2014/main" id="{EE00713F-02D3-967C-58A6-6068A43BA6AF}"/>
              </a:ext>
            </a:extLst>
          </p:cNvPr>
          <p:cNvSpPr txBox="1"/>
          <p:nvPr/>
        </p:nvSpPr>
        <p:spPr>
          <a:xfrm>
            <a:off x="1035400" y="234598"/>
            <a:ext cx="10133901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fr-FR" altLang="ko-KR" sz="2800" b="1" dirty="0">
                <a:cs typeface="Arial" pitchFamily="34" charset="0"/>
              </a:rPr>
              <a:t>Développement</a:t>
            </a:r>
            <a:endParaRPr lang="ko-KR" altLang="en-US" sz="2800" b="1" dirty="0">
              <a:cs typeface="Arial" pitchFamily="34" charset="0"/>
            </a:endParaRPr>
          </a:p>
        </p:txBody>
      </p:sp>
      <p:sp>
        <p:nvSpPr>
          <p:cNvPr id="20" name="Rectangle: Rounded Corners 15">
            <a:extLst>
              <a:ext uri="{FF2B5EF4-FFF2-40B4-BE49-F238E27FC236}">
                <a16:creationId xmlns:a16="http://schemas.microsoft.com/office/drawing/2014/main" id="{9BE9A732-AB16-0F9C-55DD-43BBF022AF2D}"/>
              </a:ext>
            </a:extLst>
          </p:cNvPr>
          <p:cNvSpPr/>
          <p:nvPr/>
        </p:nvSpPr>
        <p:spPr>
          <a:xfrm>
            <a:off x="965963" y="2508719"/>
            <a:ext cx="2221326" cy="2560123"/>
          </a:xfrm>
          <a:prstGeom prst="roundRect">
            <a:avLst>
              <a:gd name="adj" fmla="val 27748"/>
            </a:avLst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: Rounded Corners 15">
            <a:extLst>
              <a:ext uri="{FF2B5EF4-FFF2-40B4-BE49-F238E27FC236}">
                <a16:creationId xmlns:a16="http://schemas.microsoft.com/office/drawing/2014/main" id="{FA226DAE-5672-A158-C743-2E7C15913618}"/>
              </a:ext>
            </a:extLst>
          </p:cNvPr>
          <p:cNvSpPr/>
          <p:nvPr/>
        </p:nvSpPr>
        <p:spPr>
          <a:xfrm>
            <a:off x="3716035" y="2535535"/>
            <a:ext cx="2221326" cy="2560123"/>
          </a:xfrm>
          <a:prstGeom prst="roundRect">
            <a:avLst>
              <a:gd name="adj" fmla="val 30688"/>
            </a:avLst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19">
            <a:extLst>
              <a:ext uri="{FF2B5EF4-FFF2-40B4-BE49-F238E27FC236}">
                <a16:creationId xmlns:a16="http://schemas.microsoft.com/office/drawing/2014/main" id="{95FA663B-16EF-A482-75BE-1CE1874905D1}"/>
              </a:ext>
            </a:extLst>
          </p:cNvPr>
          <p:cNvGrpSpPr/>
          <p:nvPr/>
        </p:nvGrpSpPr>
        <p:grpSpPr>
          <a:xfrm>
            <a:off x="3826178" y="3075732"/>
            <a:ext cx="2040846" cy="1359380"/>
            <a:chOff x="1114004" y="1108655"/>
            <a:chExt cx="2219499" cy="1585422"/>
          </a:xfrm>
        </p:grpSpPr>
        <p:sp>
          <p:nvSpPr>
            <p:cNvPr id="23" name="TextBox 1">
              <a:extLst>
                <a:ext uri="{FF2B5EF4-FFF2-40B4-BE49-F238E27FC236}">
                  <a16:creationId xmlns:a16="http://schemas.microsoft.com/office/drawing/2014/main" id="{6856091E-D2A2-5900-0427-048EAA4D46CC}"/>
                </a:ext>
              </a:extLst>
            </p:cNvPr>
            <p:cNvSpPr txBox="1"/>
            <p:nvPr/>
          </p:nvSpPr>
          <p:spPr>
            <a:xfrm>
              <a:off x="1114004" y="1108655"/>
              <a:ext cx="200902" cy="7252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ko-KR" altLang="en-US" sz="4000" b="1" dirty="0">
                <a:cs typeface="Arial" pitchFamily="34" charset="0"/>
              </a:endParaRPr>
            </a:p>
          </p:txBody>
        </p:sp>
        <p:sp>
          <p:nvSpPr>
            <p:cNvPr id="24" name="TextBox 12">
              <a:extLst>
                <a:ext uri="{FF2B5EF4-FFF2-40B4-BE49-F238E27FC236}">
                  <a16:creationId xmlns:a16="http://schemas.microsoft.com/office/drawing/2014/main" id="{36349581-43DD-E966-805A-8FED0098A9CB}"/>
                </a:ext>
              </a:extLst>
            </p:cNvPr>
            <p:cNvSpPr txBox="1"/>
            <p:nvPr/>
          </p:nvSpPr>
          <p:spPr>
            <a:xfrm>
              <a:off x="1214455" y="1940272"/>
              <a:ext cx="2119047" cy="7538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altLang="ko-KR" sz="1200" dirty="0">
                  <a:cs typeface="Arial" pitchFamily="34" charset="0"/>
                </a:rPr>
                <a:t>Déplacement des pièces, capture des pions, promotion en dames.</a:t>
              </a:r>
              <a:endParaRPr lang="en-US" altLang="ko-KR" sz="1200" dirty="0">
                <a:cs typeface="Arial" pitchFamily="34" charset="0"/>
              </a:endParaRPr>
            </a:p>
          </p:txBody>
        </p:sp>
        <p:sp>
          <p:nvSpPr>
            <p:cNvPr id="25" name="TextBox 14">
              <a:extLst>
                <a:ext uri="{FF2B5EF4-FFF2-40B4-BE49-F238E27FC236}">
                  <a16:creationId xmlns:a16="http://schemas.microsoft.com/office/drawing/2014/main" id="{6871E064-73F9-299B-2848-D928EDEE69E7}"/>
                </a:ext>
              </a:extLst>
            </p:cNvPr>
            <p:cNvSpPr txBox="1"/>
            <p:nvPr/>
          </p:nvSpPr>
          <p:spPr>
            <a:xfrm>
              <a:off x="1214456" y="1164583"/>
              <a:ext cx="2119047" cy="5743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altLang="ko-KR" sz="1300" b="1" dirty="0">
                  <a:cs typeface="Arial" pitchFamily="34" charset="0"/>
                </a:rPr>
                <a:t>Phase 2 : Implémentation des règles du jeu</a:t>
              </a:r>
              <a:endParaRPr lang="ko-KR" altLang="en-US" sz="1300" b="1" dirty="0">
                <a:cs typeface="Arial" pitchFamily="34" charset="0"/>
              </a:endParaRPr>
            </a:p>
          </p:txBody>
        </p:sp>
      </p:grpSp>
      <p:sp>
        <p:nvSpPr>
          <p:cNvPr id="30" name="Rectangle: Rounded Corners 15">
            <a:extLst>
              <a:ext uri="{FF2B5EF4-FFF2-40B4-BE49-F238E27FC236}">
                <a16:creationId xmlns:a16="http://schemas.microsoft.com/office/drawing/2014/main" id="{D03BD137-45B2-A4E3-02FD-8583EC2AC642}"/>
              </a:ext>
            </a:extLst>
          </p:cNvPr>
          <p:cNvSpPr/>
          <p:nvPr/>
        </p:nvSpPr>
        <p:spPr>
          <a:xfrm>
            <a:off x="6454024" y="2535535"/>
            <a:ext cx="2221326" cy="2560123"/>
          </a:xfrm>
          <a:prstGeom prst="roundRect">
            <a:avLst>
              <a:gd name="adj" fmla="val 27748"/>
            </a:avLst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1" name="Group 19">
            <a:extLst>
              <a:ext uri="{FF2B5EF4-FFF2-40B4-BE49-F238E27FC236}">
                <a16:creationId xmlns:a16="http://schemas.microsoft.com/office/drawing/2014/main" id="{C4F052A4-B91C-8A86-DF8F-FBB44382049C}"/>
              </a:ext>
            </a:extLst>
          </p:cNvPr>
          <p:cNvGrpSpPr/>
          <p:nvPr/>
        </p:nvGrpSpPr>
        <p:grpSpPr>
          <a:xfrm>
            <a:off x="6590447" y="2790842"/>
            <a:ext cx="1948480" cy="1561836"/>
            <a:chOff x="1114004" y="1108655"/>
            <a:chExt cx="2119047" cy="1600145"/>
          </a:xfrm>
        </p:grpSpPr>
        <p:sp>
          <p:nvSpPr>
            <p:cNvPr id="32" name="TextBox 1">
              <a:extLst>
                <a:ext uri="{FF2B5EF4-FFF2-40B4-BE49-F238E27FC236}">
                  <a16:creationId xmlns:a16="http://schemas.microsoft.com/office/drawing/2014/main" id="{DED00981-A67E-7312-BF30-ED0F9F0979A5}"/>
                </a:ext>
              </a:extLst>
            </p:cNvPr>
            <p:cNvSpPr txBox="1"/>
            <p:nvPr/>
          </p:nvSpPr>
          <p:spPr>
            <a:xfrm>
              <a:off x="1114004" y="1108655"/>
              <a:ext cx="200902" cy="2995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ko-KR" altLang="en-US" sz="1300" b="1" dirty="0">
                <a:cs typeface="Arial" pitchFamily="34" charset="0"/>
              </a:endParaRPr>
            </a:p>
          </p:txBody>
        </p:sp>
        <p:sp>
          <p:nvSpPr>
            <p:cNvPr id="33" name="TextBox 12">
              <a:extLst>
                <a:ext uri="{FF2B5EF4-FFF2-40B4-BE49-F238E27FC236}">
                  <a16:creationId xmlns:a16="http://schemas.microsoft.com/office/drawing/2014/main" id="{1C2465F2-063B-6C3A-D894-6086294A3C5D}"/>
                </a:ext>
              </a:extLst>
            </p:cNvPr>
            <p:cNvSpPr txBox="1"/>
            <p:nvPr/>
          </p:nvSpPr>
          <p:spPr>
            <a:xfrm>
              <a:off x="1114004" y="2046616"/>
              <a:ext cx="2119047" cy="6621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altLang="ko-KR" sz="1200" dirty="0">
                  <a:cs typeface="Arial" pitchFamily="34" charset="0"/>
                </a:rPr>
                <a:t>Algorithme </a:t>
              </a:r>
              <a:r>
                <a:rPr lang="fr-FR" altLang="ko-KR" sz="1200" dirty="0" err="1">
                  <a:cs typeface="Arial" pitchFamily="34" charset="0"/>
                </a:rPr>
                <a:t>MiniMax</a:t>
              </a:r>
              <a:r>
                <a:rPr lang="fr-FR" altLang="ko-KR" sz="1200" dirty="0">
                  <a:cs typeface="Arial" pitchFamily="34" charset="0"/>
                </a:rPr>
                <a:t> pour déterminer les meilleurs coups pour l'IA..</a:t>
              </a:r>
              <a:endParaRPr lang="en-US" altLang="ko-KR" sz="1200" dirty="0">
                <a:cs typeface="Arial" pitchFamily="34" charset="0"/>
              </a:endParaRPr>
            </a:p>
          </p:txBody>
        </p:sp>
        <p:sp>
          <p:nvSpPr>
            <p:cNvPr id="34" name="TextBox 14">
              <a:extLst>
                <a:ext uri="{FF2B5EF4-FFF2-40B4-BE49-F238E27FC236}">
                  <a16:creationId xmlns:a16="http://schemas.microsoft.com/office/drawing/2014/main" id="{4A6D7C31-3CBC-7940-9098-26DCF7FA065A}"/>
                </a:ext>
              </a:extLst>
            </p:cNvPr>
            <p:cNvSpPr txBox="1"/>
            <p:nvPr/>
          </p:nvSpPr>
          <p:spPr>
            <a:xfrm>
              <a:off x="1114004" y="1433022"/>
              <a:ext cx="2119047" cy="5045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altLang="ko-KR" sz="1300" b="1" dirty="0">
                  <a:cs typeface="Arial" pitchFamily="34" charset="0"/>
                </a:rPr>
                <a:t>Phase 3 : Développement de l'IA avec </a:t>
              </a:r>
              <a:r>
                <a:rPr lang="fr-FR" altLang="ko-KR" sz="1300" b="1" dirty="0" err="1">
                  <a:cs typeface="Arial" pitchFamily="34" charset="0"/>
                </a:rPr>
                <a:t>MiniMax</a:t>
              </a:r>
              <a:endParaRPr lang="ko-KR" altLang="en-US" sz="1300" b="1" dirty="0">
                <a:cs typeface="Arial" pitchFamily="34" charset="0"/>
              </a:endParaRPr>
            </a:p>
          </p:txBody>
        </p:sp>
      </p:grp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14CF12D-05EA-AC22-D55B-6803FECC3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561" y="6470606"/>
            <a:ext cx="313680" cy="377825"/>
          </a:xfrm>
        </p:spPr>
        <p:txBody>
          <a:bodyPr/>
          <a:lstStyle/>
          <a:p>
            <a:fld id="{A3401A20-A1E0-4E43-B782-1D8AAEB2FCB1}" type="slidenum">
              <a:rPr lang="fr-FR" smtClean="0"/>
              <a:t>7</a:t>
            </a:fld>
            <a:endParaRPr lang="fr-FR" dirty="0"/>
          </a:p>
        </p:txBody>
      </p:sp>
      <p:cxnSp>
        <p:nvCxnSpPr>
          <p:cNvPr id="3" name="Connecteur : en angle 2">
            <a:extLst>
              <a:ext uri="{FF2B5EF4-FFF2-40B4-BE49-F238E27FC236}">
                <a16:creationId xmlns:a16="http://schemas.microsoft.com/office/drawing/2014/main" id="{97BAAB8E-3B0B-8739-4603-F9B0F55F7205}"/>
              </a:ext>
            </a:extLst>
          </p:cNvPr>
          <p:cNvCxnSpPr>
            <a:cxnSpLocks/>
            <a:stCxn id="18" idx="2"/>
            <a:endCxn id="20" idx="0"/>
          </p:cNvCxnSpPr>
          <p:nvPr/>
        </p:nvCxnSpPr>
        <p:spPr>
          <a:xfrm rot="5400000">
            <a:off x="3214039" y="-379594"/>
            <a:ext cx="1750901" cy="402572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" name="Connecteur : en angle 4">
            <a:extLst>
              <a:ext uri="{FF2B5EF4-FFF2-40B4-BE49-F238E27FC236}">
                <a16:creationId xmlns:a16="http://schemas.microsoft.com/office/drawing/2014/main" id="{D4D4792A-1F6C-E481-6888-97C82E9899B7}"/>
              </a:ext>
            </a:extLst>
          </p:cNvPr>
          <p:cNvCxnSpPr>
            <a:cxnSpLocks/>
            <a:stCxn id="18" idx="2"/>
            <a:endCxn id="21" idx="0"/>
          </p:cNvCxnSpPr>
          <p:nvPr/>
        </p:nvCxnSpPr>
        <p:spPr>
          <a:xfrm rot="5400000">
            <a:off x="4575667" y="1008850"/>
            <a:ext cx="1777717" cy="127565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" name="Connecteur : en angle 7">
            <a:extLst>
              <a:ext uri="{FF2B5EF4-FFF2-40B4-BE49-F238E27FC236}">
                <a16:creationId xmlns:a16="http://schemas.microsoft.com/office/drawing/2014/main" id="{49A85DB9-7A6C-0E75-8345-B79B8673FD20}"/>
              </a:ext>
            </a:extLst>
          </p:cNvPr>
          <p:cNvCxnSpPr>
            <a:cxnSpLocks/>
            <a:stCxn id="18" idx="2"/>
            <a:endCxn id="30" idx="0"/>
          </p:cNvCxnSpPr>
          <p:nvPr/>
        </p:nvCxnSpPr>
        <p:spPr>
          <a:xfrm rot="16200000" flipH="1">
            <a:off x="5944661" y="915508"/>
            <a:ext cx="1777717" cy="146233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Rectangle: Rounded Corners 15">
            <a:extLst>
              <a:ext uri="{FF2B5EF4-FFF2-40B4-BE49-F238E27FC236}">
                <a16:creationId xmlns:a16="http://schemas.microsoft.com/office/drawing/2014/main" id="{B73FFDD7-61B6-6CC7-DA35-66141C298EB1}"/>
              </a:ext>
            </a:extLst>
          </p:cNvPr>
          <p:cNvSpPr/>
          <p:nvPr/>
        </p:nvSpPr>
        <p:spPr>
          <a:xfrm>
            <a:off x="9192013" y="2535534"/>
            <a:ext cx="2221326" cy="2560123"/>
          </a:xfrm>
          <a:prstGeom prst="roundRect">
            <a:avLst>
              <a:gd name="adj" fmla="val 30688"/>
            </a:avLst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19">
            <a:extLst>
              <a:ext uri="{FF2B5EF4-FFF2-40B4-BE49-F238E27FC236}">
                <a16:creationId xmlns:a16="http://schemas.microsoft.com/office/drawing/2014/main" id="{923D3FAE-A958-539D-A2DB-1C8CF739844F}"/>
              </a:ext>
            </a:extLst>
          </p:cNvPr>
          <p:cNvGrpSpPr/>
          <p:nvPr/>
        </p:nvGrpSpPr>
        <p:grpSpPr>
          <a:xfrm>
            <a:off x="9302156" y="3075731"/>
            <a:ext cx="2040846" cy="1302675"/>
            <a:chOff x="1114004" y="1108655"/>
            <a:chExt cx="2219499" cy="1519288"/>
          </a:xfrm>
        </p:grpSpPr>
        <p:sp>
          <p:nvSpPr>
            <p:cNvPr id="7" name="TextBox 1">
              <a:extLst>
                <a:ext uri="{FF2B5EF4-FFF2-40B4-BE49-F238E27FC236}">
                  <a16:creationId xmlns:a16="http://schemas.microsoft.com/office/drawing/2014/main" id="{9C8839FB-3595-B832-618A-65E70C285FC7}"/>
                </a:ext>
              </a:extLst>
            </p:cNvPr>
            <p:cNvSpPr txBox="1"/>
            <p:nvPr/>
          </p:nvSpPr>
          <p:spPr>
            <a:xfrm>
              <a:off x="1114004" y="1108655"/>
              <a:ext cx="200902" cy="7252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ko-KR" altLang="en-US" sz="4000" b="1" dirty="0">
                <a:cs typeface="Arial" pitchFamily="34" charset="0"/>
              </a:endParaRPr>
            </a:p>
          </p:txBody>
        </p:sp>
        <p:sp>
          <p:nvSpPr>
            <p:cNvPr id="9" name="TextBox 12">
              <a:extLst>
                <a:ext uri="{FF2B5EF4-FFF2-40B4-BE49-F238E27FC236}">
                  <a16:creationId xmlns:a16="http://schemas.microsoft.com/office/drawing/2014/main" id="{E653F984-673A-70B1-AF5E-5EE9BB43A6C5}"/>
                </a:ext>
              </a:extLst>
            </p:cNvPr>
            <p:cNvSpPr txBox="1"/>
            <p:nvPr/>
          </p:nvSpPr>
          <p:spPr>
            <a:xfrm>
              <a:off x="1214456" y="1874138"/>
              <a:ext cx="2119047" cy="7538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altLang="ko-KR" sz="1200" dirty="0">
                  <a:cs typeface="Arial" pitchFamily="34" charset="0"/>
                </a:rPr>
                <a:t>Conception d’une interface simple mais claire pour l'interaction.</a:t>
              </a:r>
              <a:endParaRPr lang="en-US" altLang="ko-KR" sz="1200" dirty="0">
                <a:cs typeface="Arial" pitchFamily="34" charset="0"/>
              </a:endParaRPr>
            </a:p>
          </p:txBody>
        </p:sp>
        <p:sp>
          <p:nvSpPr>
            <p:cNvPr id="10" name="TextBox 14">
              <a:extLst>
                <a:ext uri="{FF2B5EF4-FFF2-40B4-BE49-F238E27FC236}">
                  <a16:creationId xmlns:a16="http://schemas.microsoft.com/office/drawing/2014/main" id="{6366633C-27F8-EDE7-F3DA-E45C20B8D60E}"/>
                </a:ext>
              </a:extLst>
            </p:cNvPr>
            <p:cNvSpPr txBox="1"/>
            <p:nvPr/>
          </p:nvSpPr>
          <p:spPr>
            <a:xfrm>
              <a:off x="1214456" y="1164583"/>
              <a:ext cx="2119047" cy="5743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altLang="ko-KR" sz="1300" b="1" dirty="0">
                  <a:cs typeface="Arial" pitchFamily="34" charset="0"/>
                </a:rPr>
                <a:t>Phase 4 : Développement de l'interface utilisateur</a:t>
              </a:r>
              <a:endParaRPr lang="ko-KR" altLang="en-US" sz="1300" b="1" dirty="0">
                <a:cs typeface="Arial" pitchFamily="34" charset="0"/>
              </a:endParaRPr>
            </a:p>
          </p:txBody>
        </p:sp>
      </p:grpSp>
      <p:cxnSp>
        <p:nvCxnSpPr>
          <p:cNvPr id="27" name="Connecteur : en angle 26">
            <a:extLst>
              <a:ext uri="{FF2B5EF4-FFF2-40B4-BE49-F238E27FC236}">
                <a16:creationId xmlns:a16="http://schemas.microsoft.com/office/drawing/2014/main" id="{3AB7861B-6035-B8F9-027A-A14B62346A4F}"/>
              </a:ext>
            </a:extLst>
          </p:cNvPr>
          <p:cNvCxnSpPr>
            <a:cxnSpLocks/>
            <a:stCxn id="18" idx="2"/>
            <a:endCxn id="2" idx="0"/>
          </p:cNvCxnSpPr>
          <p:nvPr/>
        </p:nvCxnSpPr>
        <p:spPr>
          <a:xfrm rot="16200000" flipH="1">
            <a:off x="7313655" y="-453487"/>
            <a:ext cx="1777716" cy="420032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233679"/>
      </p:ext>
    </p:extLst>
  </p:cSld>
  <p:clrMapOvr>
    <a:masterClrMapping/>
  </p:clrMapOvr>
  <p:transition spd="slow">
    <p:push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977D08-D295-3CA4-D666-657D4824E3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31E25AA-C532-09B5-9F8E-9F9EF73FA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83979" y="6480175"/>
            <a:ext cx="391886" cy="377825"/>
          </a:xfrm>
        </p:spPr>
        <p:txBody>
          <a:bodyPr/>
          <a:lstStyle/>
          <a:p>
            <a:fld id="{A3401A20-A1E0-4E43-B782-1D8AAEB2FCB1}" type="slidenum">
              <a:rPr lang="fr-FR" smtClean="0"/>
              <a:t>8</a:t>
            </a:fld>
            <a:endParaRPr lang="fr-FR" dirty="0"/>
          </a:p>
        </p:txBody>
      </p:sp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C9F08610-535A-4AF2-8933-0539DCB21AB2}"/>
              </a:ext>
            </a:extLst>
          </p:cNvPr>
          <p:cNvSpPr/>
          <p:nvPr/>
        </p:nvSpPr>
        <p:spPr>
          <a:xfrm>
            <a:off x="1793650" y="2871132"/>
            <a:ext cx="8321879" cy="1115736"/>
          </a:xfrm>
          <a:prstGeom prst="roundRect">
            <a:avLst>
              <a:gd name="adj" fmla="val 41101"/>
            </a:avLst>
          </a:prstGeom>
          <a:solidFill>
            <a:srgbClr val="0070C0"/>
          </a:solidFill>
          <a:effectLst>
            <a:outerShdw blurRad="57150" dist="19050" dir="5400000" algn="ctr" rotWithShape="0">
              <a:srgbClr val="000000">
                <a:alpha val="63000"/>
              </a:srgbClr>
            </a:outerShdw>
            <a:softEdge rad="63500"/>
          </a:effectLst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altLang="ko-KR" sz="3200" b="1" dirty="0">
                <a:solidFill>
                  <a:schemeClr val="tx1"/>
                </a:solidFill>
                <a:cs typeface="Arial" pitchFamily="34" charset="0"/>
              </a:rPr>
              <a:t>Exécution du code</a:t>
            </a:r>
            <a:endParaRPr lang="en-US" altLang="ko-KR" sz="3200" b="1" dirty="0">
              <a:solidFill>
                <a:schemeClr val="tx1"/>
              </a:solidFill>
              <a:cs typeface="Arial" pitchFamily="34" charset="0"/>
            </a:endParaRPr>
          </a:p>
        </p:txBody>
      </p:sp>
      <p:pic>
        <p:nvPicPr>
          <p:cNvPr id="3" name="Graphique 2" descr="Programmeur">
            <a:extLst>
              <a:ext uri="{FF2B5EF4-FFF2-40B4-BE49-F238E27FC236}">
                <a16:creationId xmlns:a16="http://schemas.microsoft.com/office/drawing/2014/main" id="{0B2BD2DC-6389-F0BE-0C04-D46E7A4389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2394439" y="297180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564274"/>
      </p:ext>
    </p:extLst>
  </p:cSld>
  <p:clrMapOvr>
    <a:masterClrMapping/>
  </p:clrMapOvr>
  <p:transition spd="slow">
    <p:push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A2013F55-83EF-902A-B1F2-320CED828408}"/>
              </a:ext>
            </a:extLst>
          </p:cNvPr>
          <p:cNvSpPr/>
          <p:nvPr/>
        </p:nvSpPr>
        <p:spPr>
          <a:xfrm>
            <a:off x="1284497" y="2959659"/>
            <a:ext cx="4043297" cy="3030593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dirty="0"/>
              <a:t>L'IA n’est pas encore parfaite et peut être améliorée pour des niveaux de difficulté plus élevés (profondeur plus importante).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dirty="0"/>
              <a:t>L’interface est textuelle, ce qui pourrait être amélioré par une version graphique.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090FA4E-E508-D552-92DB-955C05BF2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480175"/>
            <a:ext cx="329619" cy="377825"/>
          </a:xfrm>
        </p:spPr>
        <p:txBody>
          <a:bodyPr/>
          <a:lstStyle/>
          <a:p>
            <a:fld id="{A3401A20-A1E0-4E43-B782-1D8AAEB2FCB1}" type="slidenum">
              <a:rPr lang="fr-FR" smtClean="0"/>
              <a:t>9</a:t>
            </a:fld>
            <a:endParaRPr lang="fr-FR"/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DF6C17E8-CFB6-F7DB-0A89-26636D898EA7}"/>
              </a:ext>
            </a:extLst>
          </p:cNvPr>
          <p:cNvSpPr/>
          <p:nvPr/>
        </p:nvSpPr>
        <p:spPr>
          <a:xfrm>
            <a:off x="1935060" y="295883"/>
            <a:ext cx="8321879" cy="1115736"/>
          </a:xfrm>
          <a:prstGeom prst="roundRect">
            <a:avLst>
              <a:gd name="adj" fmla="val 41101"/>
            </a:avLst>
          </a:prstGeom>
          <a:solidFill>
            <a:srgbClr val="0070C0"/>
          </a:solidFill>
          <a:effectLst>
            <a:outerShdw blurRad="57150" dist="19050" dir="5400000" algn="ctr" rotWithShape="0">
              <a:srgbClr val="000000">
                <a:alpha val="63000"/>
              </a:srgbClr>
            </a:outerShdw>
            <a:softEdge rad="63500"/>
          </a:effectLst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b="1" dirty="0">
                <a:solidFill>
                  <a:schemeClr val="tx1"/>
                </a:solidFill>
                <a:cs typeface="Arial" pitchFamily="34" charset="0"/>
              </a:rPr>
              <a:t>Conclusion</a:t>
            </a:r>
          </a:p>
        </p:txBody>
      </p:sp>
      <p:pic>
        <p:nvPicPr>
          <p:cNvPr id="3" name="Graphique 2" descr="Ampoule">
            <a:extLst>
              <a:ext uri="{FF2B5EF4-FFF2-40B4-BE49-F238E27FC236}">
                <a16:creationId xmlns:a16="http://schemas.microsoft.com/office/drawing/2014/main" id="{E6FBCF5A-D2FC-3C84-B546-1A29228DF3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91746" y="396551"/>
            <a:ext cx="914400" cy="914400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61792D1B-63A3-EADE-5EB2-4E6F7704DFEA}"/>
              </a:ext>
            </a:extLst>
          </p:cNvPr>
          <p:cNvSpPr txBox="1"/>
          <p:nvPr/>
        </p:nvSpPr>
        <p:spPr>
          <a:xfrm>
            <a:off x="164809" y="1616164"/>
            <a:ext cx="1156995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fr-FR" dirty="0">
                <a:solidFill>
                  <a:schemeClr val="tx1"/>
                </a:solidFill>
              </a:rPr>
              <a:t>Le jeu de dames a été développé avec respect des règles classiques, et l'IA fonctionne correctement avec une profondeur de recherche optimale.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53C0B7C6-DF99-B0BD-A45A-9C9DE7EFB3D2}"/>
              </a:ext>
            </a:extLst>
          </p:cNvPr>
          <p:cNvSpPr txBox="1"/>
          <p:nvPr/>
        </p:nvSpPr>
        <p:spPr>
          <a:xfrm>
            <a:off x="1636488" y="3090621"/>
            <a:ext cx="36016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/>
              <a:t>Limites du projet</a:t>
            </a:r>
            <a:r>
              <a:rPr lang="fr-FR" dirty="0"/>
              <a:t> :</a:t>
            </a:r>
          </a:p>
        </p:txBody>
      </p: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C9CF280F-8093-5EEB-1F0C-483A2702697E}"/>
              </a:ext>
            </a:extLst>
          </p:cNvPr>
          <p:cNvSpPr/>
          <p:nvPr/>
        </p:nvSpPr>
        <p:spPr>
          <a:xfrm>
            <a:off x="6580629" y="2959659"/>
            <a:ext cx="4043297" cy="3030593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742950" lvl="1" indent="-285750">
              <a:buFont typeface="Arial" panose="020B0604020202020204" pitchFamily="34" charset="0"/>
              <a:buChar char="•"/>
            </a:pPr>
            <a:endParaRPr lang="fr-F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/>
              <a:t>Améliorer la performance de l'IA en augmentant la profondeur de l'algorithme.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/>
              <a:t>Ajouter une interface graphique pour rendre le jeu plus interactif.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/>
              <a:t>Introduire plusieurs niveaux de difficulté dans le jeu.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3FC77CBA-91E6-D991-D303-E03D2EC86BF5}"/>
              </a:ext>
            </a:extLst>
          </p:cNvPr>
          <p:cNvSpPr txBox="1"/>
          <p:nvPr/>
        </p:nvSpPr>
        <p:spPr>
          <a:xfrm>
            <a:off x="6867834" y="3090622"/>
            <a:ext cx="29039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/>
              <a:t>Perspectives futures</a:t>
            </a:r>
            <a:r>
              <a:rPr lang="fr-FR" dirty="0"/>
              <a:t> :</a:t>
            </a:r>
          </a:p>
        </p:txBody>
      </p:sp>
      <p:cxnSp>
        <p:nvCxnSpPr>
          <p:cNvPr id="11" name="Connecteur : en angle 10">
            <a:extLst>
              <a:ext uri="{FF2B5EF4-FFF2-40B4-BE49-F238E27FC236}">
                <a16:creationId xmlns:a16="http://schemas.microsoft.com/office/drawing/2014/main" id="{609138C6-1B57-B782-4E0E-AE37B5893FB7}"/>
              </a:ext>
            </a:extLst>
          </p:cNvPr>
          <p:cNvCxnSpPr>
            <a:cxnSpLocks/>
            <a:stCxn id="5" idx="2"/>
            <a:endCxn id="12" idx="0"/>
          </p:cNvCxnSpPr>
          <p:nvPr/>
        </p:nvCxnSpPr>
        <p:spPr>
          <a:xfrm rot="5400000">
            <a:off x="4279386" y="1289256"/>
            <a:ext cx="697164" cy="264364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Connecteur : en angle 14">
            <a:extLst>
              <a:ext uri="{FF2B5EF4-FFF2-40B4-BE49-F238E27FC236}">
                <a16:creationId xmlns:a16="http://schemas.microsoft.com/office/drawing/2014/main" id="{A1BE9043-2BEC-182E-BA8D-99241741286A}"/>
              </a:ext>
            </a:extLst>
          </p:cNvPr>
          <p:cNvCxnSpPr>
            <a:cxnSpLocks/>
            <a:stCxn id="5" idx="2"/>
            <a:endCxn id="9" idx="0"/>
          </p:cNvCxnSpPr>
          <p:nvPr/>
        </p:nvCxnSpPr>
        <p:spPr>
          <a:xfrm rot="16200000" flipH="1">
            <a:off x="6927451" y="1284832"/>
            <a:ext cx="697164" cy="265248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5178073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DF42081-849E-74C1-51E6-6056BBEBB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973" y="2197246"/>
            <a:ext cx="11462238" cy="2990849"/>
          </a:xfrm>
        </p:spPr>
        <p:txBody>
          <a:bodyPr>
            <a:no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br>
              <a:rPr lang="fr-FR" sz="7200" b="1" cap="none" dirty="0">
                <a:ln/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cs typeface="Times New Roman" panose="02020603050405020304" pitchFamily="18" charset="0"/>
              </a:rPr>
            </a:br>
            <a:r>
              <a:rPr lang="fr-FR" sz="7200" b="1" cap="none" dirty="0">
                <a:ln/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cs typeface="Times New Roman" panose="02020603050405020304" pitchFamily="18" charset="0"/>
              </a:rPr>
              <a:t>MERCI POUR VOTRE ATTENTION</a:t>
            </a:r>
            <a:endParaRPr lang="en-US" sz="7200" b="1" cap="none" dirty="0">
              <a:ln/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cs typeface="Times New Roman" panose="02020603050405020304" pitchFamily="18" charset="0"/>
            </a:endParaRPr>
          </a:p>
        </p:txBody>
      </p:sp>
      <p:pic>
        <p:nvPicPr>
          <p:cNvPr id="6" name="Graphique 5" descr="Conférencier">
            <a:extLst>
              <a:ext uri="{FF2B5EF4-FFF2-40B4-BE49-F238E27FC236}">
                <a16:creationId xmlns:a16="http://schemas.microsoft.com/office/drawing/2014/main" id="{BE152C19-D104-7B9A-3C20-D991AF3BA6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25207" y="1069730"/>
            <a:ext cx="1541585" cy="1541585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93359817"/>
      </p:ext>
    </p:extLst>
  </p:cSld>
  <p:clrMapOvr>
    <a:masterClrMapping/>
  </p:clrMapOvr>
  <p:transition spd="slow">
    <p:push dir="u"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éleste">
  <a:themeElements>
    <a:clrScheme name="Céleste">
      <a:dk1>
        <a:sysClr val="windowText" lastClr="000000"/>
      </a:dk1>
      <a:lt1>
        <a:sysClr val="window" lastClr="FFFFFF"/>
      </a:lt1>
      <a:dk2>
        <a:srgbClr val="104C7E"/>
      </a:dk2>
      <a:lt2>
        <a:srgbClr val="EBEBEB"/>
      </a:lt2>
      <a:accent1>
        <a:srgbClr val="94CE67"/>
      </a:accent1>
      <a:accent2>
        <a:srgbClr val="49D1CD"/>
      </a:accent2>
      <a:accent3>
        <a:srgbClr val="61A5D6"/>
      </a:accent3>
      <a:accent4>
        <a:srgbClr val="9D8CD3"/>
      </a:accent4>
      <a:accent5>
        <a:srgbClr val="E45C8A"/>
      </a:accent5>
      <a:accent6>
        <a:srgbClr val="F98C61"/>
      </a:accent6>
      <a:hlink>
        <a:srgbClr val="AAF172"/>
      </a:hlink>
      <a:folHlink>
        <a:srgbClr val="E7F19A"/>
      </a:folHlink>
    </a:clrScheme>
    <a:fontScheme name="Célest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éleste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E44E6A2F-09CD-4BE0-B42D-107FF03CEED6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Céleste</Template>
  <TotalTime>1494</TotalTime>
  <Words>490</Words>
  <Application>Microsoft Office PowerPoint</Application>
  <PresentationFormat>Grand écran</PresentationFormat>
  <Paragraphs>71</Paragraphs>
  <Slides>10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Open Sans Light</vt:lpstr>
      <vt:lpstr>Céleste</vt:lpstr>
      <vt:lpstr>Jeu de dames simplifié avec règles logiques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 MERCI POUR VOTRE ATTENTION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HP</dc:creator>
  <cp:lastModifiedBy>HP</cp:lastModifiedBy>
  <cp:revision>39</cp:revision>
  <dcterms:created xsi:type="dcterms:W3CDTF">2024-06-16T16:39:26Z</dcterms:created>
  <dcterms:modified xsi:type="dcterms:W3CDTF">2025-07-26T10:50:53Z</dcterms:modified>
</cp:coreProperties>
</file>